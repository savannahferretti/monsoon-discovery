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Savannah Ferretti from UC Irvine. Today I'll show how symbolic regression can discover interpretable equations for monsoon rainfall directly from data — equations that reveal physical insight into the thermodynamic controls on deep convection.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context, our group has been developing data-driven approaches to understand what controls monsoon rainfall. We work with three key thermodynamic profiles — relative humidity, equivalent potential temperature, and saturated equivalent potential temperature — which together capture the entrainment, buoyancy, and saturation conditions that govern deep convection.
In earlier work, we developed learned integration kernels that compress these full vertical profiles into scalar features, identifying which atmospheric levels contribute most to rainfall prediction. Today, I'll build on that by asking: can we go even further and write down an explicit equation for rainfall using those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central question of this talk. Neural networks give us high predictive skill, but thousands of parameters make it hard to extract physical insight. Can we find an actual equation — something compact enough to write on a slide — that captures the key relationships between thermodynamic structure and rainfall? Not to maximize skill, but to reveal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Symbolic regression is an automated approach for discovering equations directly from data. Unlike traditional curve fitting, where we choose the equation form and then optimize the constants, symbolic regression discovers the functional form itself. It uses evolutionary algorithms — populations of candidate equations compete, mutate, and recombine — while balancing accuracy against simplicity.
The output is a Pareto frontier: a set of equations at increasing levels of complexity, each the best equation at that complexity. We use PySR, developed by Miles Cranmer.
Importantly, because the search is unconstrained in functional form, the structures it discovers can reveal relationships we might not have thought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equations in stages, each adding variables to understand their contribution.
Stage 1 uses only the buoyancy diagnostic BL. SR discovers a cubic relationship — the cube captures the sharp nonlinear onset of rainfall above a critical buoyancy.
Stage 2 is the key result. We give SR access to the three kernel-integrated thermodynamic features: RH, θe, and θe*. Remember, these are scalar features from the learned vertical integration, so each captures information from a specific part of the atmospheric column.
SR discovers this equation. I'll unpack its physical meaning on the next slide, but the crucial structure is the max() operation, which selects between two thermodynamic controls on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physical result of the talk.
The max() operation is not something we prescribed — SR discovered it. It creates a regime switch between two thermodynamic controls on rainfall.
In the moisture-limited regime, buoyancy is sufficient for convection, but the air being entrained into the rising plume is too dry. RH here is the kernel-integrated relative humidity, which our earlier work showed peaks in the lower-to-mid troposphere — exactly where entrainment matters most.
In the buoyancy-limited regime, moisture is adequate, but the intensity of convection depends on the difference between boundary-layer energy, captured by θe, and the saturation state of the environment, captured by θe*. This is analogous to CAPE-like measures, but the equation discovers the specific linear combination of θe and θe* that matters.
The cube ensures that rainfall increases sharply once conditions become favorable — it captures the nonlinear onset of deep convection. And the overall clipping to non-negative values enforces physical constraints on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ask SR to discover surface corrections to the atmospheric equation.
SR-SFC uses the atmospheric equation as a given input and searches for corrections using surface variables: sensible heat flux, latent heat flux, and land fraction.
It finds that sensible heat flux contributes a correction that matters most over ocean — that's the (b minus LF) term, which is positive over ocean where land fraction is low. This is consistent with SST-driven destabilization of the boundary layer enhancing oceanic convection.
SR-ALL combines everything. The full equation adds a term where surface fluxes and near-surface energy interact with land fraction cubed, creating a sharp land-ocean contrast. But the atmospheric equation remains the dominant term — the surface corrections are secondary adjustments, which makes physical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skill comparison across all our models, measured by R² on the test set.
The physics baseline explains about 11% of rainfall variance. SR-BL, using only the buoyancy diagnostic, gets 19%.
The jump to SR-ATM is the key result: with just four constants and one equation, we capture about 44% of rainfall variance. That's roughly three-quarters of what the full kernel-integration neural network achieves with thousands of parameters.
SR-ALL with surface corrections reaches 49%, approaching the neural network's 52%.
The full-profile neural network with about 30,000 parameters reaches 60%, but of course none of those relationships are directly interpretable.
Remember, we're only using thermodynamic variables — no dynamics, no moisture convergence, no large-scale forcing. So R² of 0.44 with an interpretable equation is meaningful: it tells us how much of rainfall variability can be explained by local thermodynamics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SR discovers the equation form, we optimize the four constants using L-BFGS-B with multiple restarts.
The scaling constant a = 1.58 converts the cubed thermodynamic quantity to rainfall units.
b = 1.0 means θe enters at its natural scale. We verified that 1.0 is genuinely the optimum, not just the initial guess — a sweep across b values shows a clean minimum.
c = 1.47 is the most physically interesting: θe* is weighted about 50% more than θe. This means the equation is more sensitive to the saturation state of the environment than to the boundary-layer energy itself. That emphasizes the role of entrainment in controlling deep convection.
d = 0.37 sets an offset that determines when conditions are favorable enough to switch into the buoyancy-limited regime.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synthesize what these discovered equations tell us about the physics.
First, the dual regime structure. The max() operation reveals that rainfall is limited by whichever thermodynamic control is more restrictive — moisture aloft or buoyancy. This is an emergent result, not something we built in.
Second, the relative weighting of θe* over θe tells us that the environment being entrained matters more than the initial energy of the parcel. This aligns with our understanding that entrainment is a key process controlling deep convection in the tropics.
Third, the cubic nonlinearity captures something fundamental about deep convection: conditions either support it or they don't, and the transition is sharp.
And fourth, the surface correction terms discover the ocean-land contrast on their own — they distinguish between SST-driven oceanic convection and continental convection without any geographic information in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close with three takeaways.
First, symbolic regression discovers interpretable equation structure directly from data. The max, the cube, which variables combine and how — none of this was prescribed.
Second, these compact equations carry real physical insight. Four constants and one equation explain most of what the neural network captures, while revealing a regime switch between moisture and buoyancy control, and the dominant role of entrainment.
Third, and most broadly, this shows ML as a tool for physical discovery. We're not trying to replace climate models with equations found by a computer. We're using data-driven methods to identify the relationships that physics should focus on — and getting back an equation that a scientist can read, critique, and connect to theory.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E2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B992E"/>
          </a:solidFill>
          <a:ln/>
        </p:spPr>
      </p:sp>
      <p:sp>
        <p:nvSpPr>
          <p:cNvPr id="3" name="Text 1"/>
          <p:cNvSpPr txBox="1"/>
          <p:nvPr/>
        </p:nvSpPr>
        <p:spPr>
          <a:xfrm>
            <a:off x="731520" y="731520"/>
            <a:ext cx="7680960" cy="2377440"/>
          </a:xfrm>
          <a:prstGeom prst="rect">
            <a:avLst/>
          </a:prstGeom>
          <a:noFill/>
          <a:ln/>
        </p:spPr>
        <p:txBody>
          <a:bodyPr wrap="square" lIns="0" tIns="0" rIns="0" bIns="0" rtlCol="0" anchor="ctr"/>
          <a:lstStyle/>
          <a:p>
            <a:pPr algn="l" indent="0" marL="0">
              <a:lnSpc>
                <a:spcPct val="115000"/>
              </a:lnSpc>
              <a:buNone/>
            </a:pPr>
            <a:r>
              <a:rPr lang="en-US" sz="3600" b="1" dirty="0">
                <a:solidFill>
                  <a:srgbClr val="FFFFFF"/>
                </a:solidFill>
                <a:latin typeface="Calibri" pitchFamily="34" charset="0"/>
                <a:ea typeface="Calibri" pitchFamily="34" charset="-122"/>
                <a:cs typeface="Calibri" pitchFamily="34" charset="-120"/>
              </a:rPr>
              <a:t>Discovering Interpretable</a:t>
            </a:r>
            <a:endParaRPr lang="en-US" sz="3600" dirty="0"/>
          </a:p>
          <a:p>
            <a:pPr algn="l" indent="0" marL="0">
              <a:lnSpc>
                <a:spcPct val="115000"/>
              </a:lnSpc>
              <a:buNone/>
            </a:pPr>
            <a:r>
              <a:rPr lang="en-US" sz="3600" b="1" dirty="0">
                <a:solidFill>
                  <a:srgbClr val="FFFFFF"/>
                </a:solidFill>
                <a:latin typeface="Calibri" pitchFamily="34" charset="0"/>
                <a:ea typeface="Calibri" pitchFamily="34" charset="-122"/>
                <a:cs typeface="Calibri" pitchFamily="34" charset="-120"/>
              </a:rPr>
              <a:t>Rainfall Equations</a:t>
            </a:r>
            <a:endParaRPr lang="en-US" sz="3600" dirty="0"/>
          </a:p>
          <a:p>
            <a:pPr algn="l" indent="0" marL="0">
              <a:lnSpc>
                <a:spcPct val="115000"/>
              </a:lnSpc>
              <a:buNone/>
            </a:pPr>
            <a:r>
              <a:rPr lang="en-US" sz="3600" b="1" dirty="0">
                <a:solidFill>
                  <a:srgbClr val="FFFFFF"/>
                </a:solidFill>
                <a:latin typeface="Calibri" pitchFamily="34" charset="0"/>
                <a:ea typeface="Calibri" pitchFamily="34" charset="-122"/>
                <a:cs typeface="Calibri" pitchFamily="34" charset="-120"/>
              </a:rPr>
              <a:t>with Symbolic Regression</a:t>
            </a:r>
            <a:endParaRPr lang="en-US" sz="3600" dirty="0"/>
          </a:p>
        </p:txBody>
      </p:sp>
      <p:sp>
        <p:nvSpPr>
          <p:cNvPr id="4" name="Text 2"/>
          <p:cNvSpPr txBox="1"/>
          <p:nvPr/>
        </p:nvSpPr>
        <p:spPr>
          <a:xfrm>
            <a:off x="731520" y="3291840"/>
            <a:ext cx="7680960" cy="411480"/>
          </a:xfrm>
          <a:prstGeom prst="rect">
            <a:avLst/>
          </a:prstGeom>
          <a:noFill/>
          <a:ln/>
        </p:spPr>
        <p:txBody>
          <a:bodyPr wrap="square" lIns="0" tIns="0" rIns="0" bIns="0" rtlCol="0" anchor="ctr"/>
          <a:lstStyle/>
          <a:p>
            <a:pPr indent="0" marL="0">
              <a:buNone/>
            </a:pPr>
            <a:r>
              <a:rPr lang="en-US" sz="1800" b="1" dirty="0">
                <a:solidFill>
                  <a:srgbClr val="FB992E"/>
                </a:solidFill>
                <a:latin typeface="Calibri" pitchFamily="34" charset="0"/>
                <a:ea typeface="Calibri" pitchFamily="34" charset="-122"/>
                <a:cs typeface="Calibri" pitchFamily="34" charset="-120"/>
              </a:rPr>
              <a:t>Savannah L. Ferretti</a:t>
            </a:r>
            <a:endParaRPr lang="en-US" sz="1800" dirty="0"/>
          </a:p>
        </p:txBody>
      </p:sp>
      <p:sp>
        <p:nvSpPr>
          <p:cNvPr id="5" name="Text 3"/>
          <p:cNvSpPr txBox="1"/>
          <p:nvPr/>
        </p:nvSpPr>
        <p:spPr>
          <a:xfrm>
            <a:off x="731520" y="3703320"/>
            <a:ext cx="7680960" cy="320040"/>
          </a:xfrm>
          <a:prstGeom prst="rect">
            <a:avLst/>
          </a:prstGeom>
          <a:noFill/>
          <a:ln/>
        </p:spPr>
        <p:txBody>
          <a:bodyPr wrap="square" lIns="0" tIns="0" rIns="0" bIns="0" rtlCol="0" anchor="ctr"/>
          <a:lstStyle/>
          <a:p>
            <a:pPr indent="0" marL="0">
              <a:buNone/>
            </a:pPr>
            <a:r>
              <a:rPr lang="en-US" sz="1400" dirty="0">
                <a:solidFill>
                  <a:srgbClr val="BDC3C7"/>
                </a:solidFill>
                <a:latin typeface="Calibri" pitchFamily="34" charset="0"/>
                <a:ea typeface="Calibri" pitchFamily="34" charset="-122"/>
                <a:cs typeface="Calibri" pitchFamily="34" charset="-120"/>
              </a:rPr>
              <a:t>Ph.D., Earth System Science, UC Irvine</a:t>
            </a:r>
            <a:endParaRPr lang="en-US" sz="1400" dirty="0"/>
          </a:p>
        </p:txBody>
      </p:sp>
      <p:sp>
        <p:nvSpPr>
          <p:cNvPr id="6" name="Text 4"/>
          <p:cNvSpPr txBox="1"/>
          <p:nvPr/>
        </p:nvSpPr>
        <p:spPr>
          <a:xfrm>
            <a:off x="731520" y="4206240"/>
            <a:ext cx="7680960" cy="320040"/>
          </a:xfrm>
          <a:prstGeom prst="rect">
            <a:avLst/>
          </a:prstGeom>
          <a:noFill/>
          <a:ln/>
        </p:spPr>
        <p:txBody>
          <a:bodyPr wrap="square" lIns="0" tIns="0" rIns="0" bIns="0" rtlCol="0" anchor="ctr"/>
          <a:lstStyle/>
          <a:p>
            <a:pPr indent="0" marL="0">
              <a:buNone/>
            </a:pPr>
            <a:r>
              <a:rPr lang="en-US" sz="1400" dirty="0">
                <a:solidFill>
                  <a:srgbClr val="7F8C8D"/>
                </a:solidFill>
                <a:latin typeface="Calibri" pitchFamily="34" charset="0"/>
                <a:ea typeface="Calibri" pitchFamily="34" charset="-122"/>
                <a:cs typeface="Calibri" pitchFamily="34" charset="-120"/>
              </a:rPr>
              <a:t>CalGFD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914400"/>
          </a:xfrm>
          <a:prstGeom prst="rect">
            <a:avLst/>
          </a:prstGeom>
          <a:noFill/>
          <a:ln/>
        </p:spPr>
        <p:txBody>
          <a:bodyPr wrap="square" lIns="0" tIns="0" rIns="0" bIns="0" rtlCol="0" anchor="ctr"/>
          <a:lstStyle/>
          <a:p>
            <a:pPr indent="0" marL="0">
              <a:buNone/>
            </a:pPr>
            <a:r>
              <a:rPr lang="en-US" sz="2800" b="1" dirty="0">
                <a:solidFill>
                  <a:srgbClr val="1E2A3A"/>
                </a:solidFill>
                <a:latin typeface="Calibri" pitchFamily="34" charset="0"/>
                <a:ea typeface="Calibri" pitchFamily="34" charset="-122"/>
                <a:cs typeface="Calibri" pitchFamily="34" charset="-120"/>
              </a:rPr>
              <a:t>Vertical thermodynamic structure</a:t>
            </a:r>
            <a:endParaRPr lang="en-US" sz="2800" dirty="0"/>
          </a:p>
          <a:p>
            <a:pPr indent="0" marL="0">
              <a:buNone/>
            </a:pPr>
            <a:r>
              <a:rPr lang="en-US" sz="2800" b="1" dirty="0">
                <a:solidFill>
                  <a:srgbClr val="1E2A3A"/>
                </a:solidFill>
                <a:latin typeface="Calibri" pitchFamily="34" charset="0"/>
                <a:ea typeface="Calibri" pitchFamily="34" charset="-122"/>
                <a:cs typeface="Calibri" pitchFamily="34" charset="-120"/>
              </a:rPr>
              <a:t>controls monsoon rainfall.</a:t>
            </a:r>
            <a:endParaRPr lang="en-US" sz="2800" dirty="0"/>
          </a:p>
        </p:txBody>
      </p:sp>
      <p:sp>
        <p:nvSpPr>
          <p:cNvPr id="3" name="Text 1"/>
          <p:cNvSpPr txBox="1"/>
          <p:nvPr/>
        </p:nvSpPr>
        <p:spPr>
          <a:xfrm>
            <a:off x="640080" y="1554480"/>
            <a:ext cx="4114800" cy="2926080"/>
          </a:xfrm>
          <a:prstGeom prst="rect">
            <a:avLst/>
          </a:prstGeom>
          <a:noFill/>
          <a:ln/>
        </p:spPr>
        <p:txBody>
          <a:bodyPr wrap="square" lIns="0" tIns="0" rIns="0" bIns="0" rtlCol="0" anchor="t"/>
          <a:lstStyle/>
          <a:p>
            <a:pPr indent="0" marL="0">
              <a:spcAft>
                <a:spcPts val="800"/>
              </a:spcAft>
              <a:buNone/>
            </a:pPr>
            <a:r>
              <a:rPr lang="en-US" sz="1600" b="1" dirty="0">
                <a:solidFill>
                  <a:srgbClr val="2C3E50"/>
                </a:solidFill>
              </a:rPr>
              <a:t>Key predictors from vertical profiles:</a:t>
            </a:r>
            <a:endParaRPr lang="en-US" sz="1600" dirty="0"/>
          </a:p>
          <a:p>
            <a:pPr marL="342900" indent="-342900">
              <a:spcAft>
                <a:spcPts val="400"/>
              </a:spcAft>
              <a:buSzPct val="100000"/>
              <a:buChar char="•"/>
            </a:pPr>
            <a:r>
              <a:rPr lang="en-US" sz="1400" dirty="0">
                <a:solidFill>
                  <a:srgbClr val="2C3E50"/>
                </a:solidFill>
              </a:rPr>
              <a:t>Relative humidity (RH)</a:t>
            </a:r>
            <a:endParaRPr lang="en-US" sz="1600" dirty="0"/>
          </a:p>
          <a:p>
            <a:pPr lvl="1" indent="0" marL="0">
              <a:spcAft>
                <a:spcPts val="800"/>
              </a:spcAft>
              <a:buNone/>
            </a:pPr>
            <a:r>
              <a:rPr lang="en-US" sz="1200" dirty="0">
                <a:solidFill>
                  <a:srgbClr val="7F8C8D"/>
                </a:solidFill>
              </a:rPr>
              <a:t>Controls entrainment dilution of rising parcels</a:t>
            </a:r>
            <a:endParaRPr lang="en-US" sz="1600" dirty="0"/>
          </a:p>
          <a:p>
            <a:pPr marL="342900" indent="-342900">
              <a:spcAft>
                <a:spcPts val="400"/>
              </a:spcAft>
              <a:buSzPct val="100000"/>
              <a:buChar char="•"/>
            </a:pPr>
            <a:r>
              <a:rPr lang="en-US" sz="1400" dirty="0">
                <a:solidFill>
                  <a:srgbClr val="2C3E50"/>
                </a:solidFill>
              </a:rPr>
              <a:t>Equivalent potential temperature (θe)</a:t>
            </a:r>
            <a:endParaRPr lang="en-US" sz="1600" dirty="0"/>
          </a:p>
          <a:p>
            <a:pPr lvl="1" indent="0" marL="0">
              <a:spcAft>
                <a:spcPts val="800"/>
              </a:spcAft>
              <a:buNone/>
            </a:pPr>
            <a:r>
              <a:rPr lang="en-US" sz="1200" dirty="0">
                <a:solidFill>
                  <a:srgbClr val="7F8C8D"/>
                </a:solidFill>
              </a:rPr>
              <a:t>Measures moist static energy available for convection</a:t>
            </a:r>
            <a:endParaRPr lang="en-US" sz="1600" dirty="0"/>
          </a:p>
          <a:p>
            <a:pPr marL="342900" indent="-342900">
              <a:spcAft>
                <a:spcPts val="400"/>
              </a:spcAft>
              <a:buSzPct val="100000"/>
              <a:buChar char="•"/>
            </a:pPr>
            <a:r>
              <a:rPr lang="en-US" sz="1400" dirty="0">
                <a:solidFill>
                  <a:srgbClr val="2C3E50"/>
                </a:solidFill>
              </a:rPr>
              <a:t>Saturated equivalent potential temperature (θe*)</a:t>
            </a:r>
            <a:endParaRPr lang="en-US" sz="1600" dirty="0"/>
          </a:p>
          <a:p>
            <a:pPr lvl="1" indent="0" marL="0">
              <a:spcAft>
                <a:spcPts val="800"/>
              </a:spcAft>
              <a:buNone/>
            </a:pPr>
            <a:r>
              <a:rPr lang="en-US" sz="1200" dirty="0">
                <a:solidFill>
                  <a:srgbClr val="7F8C8D"/>
                </a:solidFill>
              </a:rPr>
              <a:t>Represents the saturation state of the environment</a:t>
            </a:r>
            <a:endParaRPr lang="en-US" sz="1600" dirty="0"/>
          </a:p>
        </p:txBody>
      </p:sp>
      <p:sp>
        <p:nvSpPr>
          <p:cNvPr id="4" name="Shape 2"/>
          <p:cNvSpPr/>
          <p:nvPr/>
        </p:nvSpPr>
        <p:spPr>
          <a:xfrm>
            <a:off x="5120640" y="1554480"/>
            <a:ext cx="3566160" cy="2743200"/>
          </a:xfrm>
          <a:prstGeom prst="roundRect">
            <a:avLst>
              <a:gd name="adj" fmla="val 5000"/>
            </a:avLst>
          </a:prstGeom>
          <a:solidFill>
            <a:srgbClr val="ECF0F1"/>
          </a:solidFill>
          <a:ln/>
        </p:spPr>
      </p:sp>
      <p:sp>
        <p:nvSpPr>
          <p:cNvPr id="5" name="Text 3"/>
          <p:cNvSpPr txBox="1"/>
          <p:nvPr/>
        </p:nvSpPr>
        <p:spPr>
          <a:xfrm>
            <a:off x="5394960" y="1691640"/>
            <a:ext cx="3017520" cy="2468880"/>
          </a:xfrm>
          <a:prstGeom prst="rect">
            <a:avLst/>
          </a:prstGeom>
          <a:noFill/>
          <a:ln/>
        </p:spPr>
        <p:txBody>
          <a:bodyPr wrap="square" lIns="0" tIns="0" rIns="0" bIns="0" rtlCol="0" anchor="t"/>
          <a:lstStyle/>
          <a:p>
            <a:pPr indent="0" marL="0">
              <a:spcAft>
                <a:spcPts val="1000"/>
              </a:spcAft>
              <a:buNone/>
            </a:pPr>
            <a:r>
              <a:rPr lang="en-US" sz="1600" b="1" dirty="0">
                <a:solidFill>
                  <a:srgbClr val="1E2A3A"/>
                </a:solidFill>
              </a:rPr>
              <a:t>Our approach</a:t>
            </a:r>
            <a:endParaRPr lang="en-US" sz="1600" dirty="0"/>
          </a:p>
          <a:p>
            <a:pPr indent="0" marL="0">
              <a:spcAft>
                <a:spcPts val="1000"/>
              </a:spcAft>
              <a:buNone/>
            </a:pPr>
            <a:r>
              <a:rPr lang="en-US" sz="1300" dirty="0">
                <a:solidFill>
                  <a:srgbClr val="2C3E50"/>
                </a:solidFill>
              </a:rPr>
              <a:t>Learned integration kernels compress full vertical profiles into scalar features.</a:t>
            </a:r>
            <a:endParaRPr lang="en-US" sz="1600" dirty="0"/>
          </a:p>
          <a:p>
            <a:pPr indent="0" marL="0">
              <a:spcAft>
                <a:spcPts val="1000"/>
              </a:spcAft>
              <a:buNone/>
            </a:pPr>
            <a:r>
              <a:rPr lang="en-US" sz="1300" dirty="0">
                <a:solidFill>
                  <a:srgbClr val="2C3E50"/>
                </a:solidFill>
              </a:rPr>
              <a:t>Each kernel identifies which levels matter most for rainfall prediction.</a:t>
            </a:r>
            <a:endParaRPr lang="en-US" sz="1600" dirty="0"/>
          </a:p>
          <a:p>
            <a:pPr indent="0" marL="0">
              <a:buNone/>
            </a:pPr>
            <a:r>
              <a:rPr lang="en-US" sz="1100" i="1" dirty="0">
                <a:solidFill>
                  <a:srgbClr val="7F8C8D"/>
                </a:solidFill>
              </a:rPr>
              <a:t>3-hourly ERA5 data, 1° grid</a:t>
            </a:r>
            <a:endParaRPr lang="en-US" sz="1600" dirty="0"/>
          </a:p>
          <a:p>
            <a:pPr indent="0" marL="0">
              <a:buNone/>
            </a:pPr>
            <a:r>
              <a:rPr lang="en-US" sz="1100" i="1" dirty="0">
                <a:solidFill>
                  <a:srgbClr val="7F8C8D"/>
                </a:solidFill>
              </a:rPr>
              <a:t>JJA 2000–2020, South Asian monsoon region</a:t>
            </a:r>
            <a:endParaRPr lang="en-US" sz="1600" dirty="0"/>
          </a:p>
        </p:txBody>
      </p:sp>
      <p:sp>
        <p:nvSpPr>
          <p:cNvPr id="6" name="Text 4"/>
          <p:cNvSpPr txBox="1"/>
          <p:nvPr/>
        </p:nvSpPr>
        <p:spPr>
          <a:xfrm>
            <a:off x="640080" y="4434840"/>
            <a:ext cx="7863840" cy="365760"/>
          </a:xfrm>
          <a:prstGeom prst="rect">
            <a:avLst/>
          </a:prstGeom>
          <a:noFill/>
          <a:ln/>
        </p:spPr>
        <p:txBody>
          <a:bodyPr wrap="square" lIns="0" tIns="0" rIns="0" bIns="0" rtlCol="0" anchor="ctr"/>
          <a:lstStyle/>
          <a:p>
            <a:pPr algn="ctr" indent="0" marL="0">
              <a:buNone/>
            </a:pPr>
            <a:r>
              <a:rPr lang="en-US" sz="1300" dirty="0">
                <a:solidFill>
                  <a:srgbClr val="FB992E"/>
                </a:solidFill>
                <a:latin typeface="Courier New" pitchFamily="34" charset="0"/>
                <a:ea typeface="Courier New" pitchFamily="34" charset="-122"/>
                <a:cs typeface="Courier New" pitchFamily="34" charset="-120"/>
              </a:rPr>
              <a:t>profiles  →  kernel integration  →  scalar features  →  neural network  →  rainfall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E2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B992E"/>
          </a:solidFill>
          <a:ln/>
        </p:spPr>
      </p:sp>
      <p:sp>
        <p:nvSpPr>
          <p:cNvPr id="3" name="Text 1"/>
          <p:cNvSpPr txBox="1"/>
          <p:nvPr/>
        </p:nvSpPr>
        <p:spPr>
          <a:xfrm>
            <a:off x="914400" y="1097280"/>
            <a:ext cx="7315200" cy="2560320"/>
          </a:xfrm>
          <a:prstGeom prst="rect">
            <a:avLst/>
          </a:prstGeom>
          <a:noFill/>
          <a:ln/>
        </p:spPr>
        <p:txBody>
          <a:bodyPr wrap="square" lIns="0" tIns="0" rIns="0" bIns="0" rtlCol="0" anchor="ctr"/>
          <a:lstStyle/>
          <a:p>
            <a:pPr algn="ctr" indent="0" marL="0">
              <a:lnSpc>
                <a:spcPct val="130000"/>
              </a:lnSpc>
              <a:buNone/>
            </a:pPr>
            <a:r>
              <a:rPr lang="en-US" sz="3400" b="1" dirty="0">
                <a:solidFill>
                  <a:srgbClr val="FFFFFF"/>
                </a:solidFill>
                <a:latin typeface="Calibri" pitchFamily="34" charset="0"/>
                <a:ea typeface="Calibri" pitchFamily="34" charset="-122"/>
                <a:cs typeface="Calibri" pitchFamily="34" charset="-120"/>
              </a:rPr>
              <a:t>Can we find an explicit,</a:t>
            </a:r>
            <a:endParaRPr lang="en-US" sz="3400" dirty="0"/>
          </a:p>
          <a:p>
            <a:pPr algn="ctr" indent="0" marL="0">
              <a:lnSpc>
                <a:spcPct val="130000"/>
              </a:lnSpc>
              <a:buNone/>
            </a:pPr>
            <a:r>
              <a:rPr lang="en-US" sz="3400" b="1" dirty="0">
                <a:solidFill>
                  <a:srgbClr val="FFFFFF"/>
                </a:solidFill>
                <a:latin typeface="Calibri" pitchFamily="34" charset="0"/>
                <a:ea typeface="Calibri" pitchFamily="34" charset="-122"/>
                <a:cs typeface="Calibri" pitchFamily="34" charset="-120"/>
              </a:rPr>
              <a:t>interpretable equation</a:t>
            </a:r>
            <a:endParaRPr lang="en-US" sz="3400" dirty="0"/>
          </a:p>
          <a:p>
            <a:pPr algn="ctr" indent="0" marL="0">
              <a:lnSpc>
                <a:spcPct val="130000"/>
              </a:lnSpc>
              <a:buNone/>
            </a:pPr>
            <a:r>
              <a:rPr lang="en-US" sz="3400" b="1" dirty="0">
                <a:solidFill>
                  <a:srgbClr val="FFFFFF"/>
                </a:solidFill>
                <a:latin typeface="Calibri" pitchFamily="34" charset="0"/>
                <a:ea typeface="Calibri" pitchFamily="34" charset="-122"/>
                <a:cs typeface="Calibri" pitchFamily="34" charset="-120"/>
              </a:rPr>
              <a:t>for monsoon rainfall?</a:t>
            </a:r>
            <a:endParaRPr lang="en-US" sz="3400" dirty="0"/>
          </a:p>
        </p:txBody>
      </p:sp>
      <p:sp>
        <p:nvSpPr>
          <p:cNvPr id="4" name="Text 2"/>
          <p:cNvSpPr txBox="1"/>
          <p:nvPr/>
        </p:nvSpPr>
        <p:spPr>
          <a:xfrm>
            <a:off x="1371600" y="3657600"/>
            <a:ext cx="6400800" cy="731520"/>
          </a:xfrm>
          <a:prstGeom prst="rect">
            <a:avLst/>
          </a:prstGeom>
          <a:noFill/>
          <a:ln/>
        </p:spPr>
        <p:txBody>
          <a:bodyPr wrap="square" lIns="0" tIns="0" rIns="0" bIns="0" rtlCol="0" anchor="ctr"/>
          <a:lstStyle/>
          <a:p>
            <a:pPr algn="ctr" indent="0" marL="0">
              <a:buNone/>
            </a:pPr>
            <a:r>
              <a:rPr lang="en-US" sz="1500" i="1" dirty="0">
                <a:solidFill>
                  <a:srgbClr val="BDC3C7"/>
                </a:solidFill>
                <a:latin typeface="Calibri" pitchFamily="34" charset="0"/>
                <a:ea typeface="Calibri" pitchFamily="34" charset="-122"/>
                <a:cs typeface="Calibri" pitchFamily="34" charset="-120"/>
              </a:rPr>
              <a:t>Not just a black-box prediction — an equation we can read,</a:t>
            </a:r>
            <a:endParaRPr lang="en-US" sz="1500" dirty="0"/>
          </a:p>
          <a:p>
            <a:pPr algn="ctr" indent="0" marL="0">
              <a:buNone/>
            </a:pPr>
            <a:r>
              <a:rPr lang="en-US" sz="1500" i="1" dirty="0">
                <a:solidFill>
                  <a:srgbClr val="BDC3C7"/>
                </a:solidFill>
                <a:latin typeface="Calibri" pitchFamily="34" charset="0"/>
                <a:ea typeface="Calibri" pitchFamily="34" charset="-122"/>
                <a:cs typeface="Calibri" pitchFamily="34" charset="-120"/>
              </a:rPr>
              <a:t>interpret physically, and connect to known processes.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548640"/>
          </a:xfrm>
          <a:prstGeom prst="rect">
            <a:avLst/>
          </a:prstGeom>
          <a:noFill/>
          <a:ln/>
        </p:spPr>
        <p:txBody>
          <a:bodyPr wrap="square" lIns="0" tIns="0" rIns="0" bIns="0" rtlCol="0" anchor="ctr"/>
          <a:lstStyle/>
          <a:p>
            <a:pPr indent="0" marL="0">
              <a:buNone/>
            </a:pPr>
            <a:r>
              <a:rPr lang="en-US" sz="2800" b="1" dirty="0">
                <a:solidFill>
                  <a:srgbClr val="1E2A3A"/>
                </a:solidFill>
                <a:latin typeface="Calibri" pitchFamily="34" charset="0"/>
                <a:ea typeface="Calibri" pitchFamily="34" charset="-122"/>
                <a:cs typeface="Calibri" pitchFamily="34" charset="-120"/>
              </a:rPr>
              <a:t>Symbolic regression discovers equations from data.</a:t>
            </a:r>
            <a:endParaRPr lang="en-US" sz="2800" dirty="0"/>
          </a:p>
        </p:txBody>
      </p:sp>
      <p:sp>
        <p:nvSpPr>
          <p:cNvPr id="3" name="Shape 1"/>
          <p:cNvSpPr/>
          <p:nvPr/>
        </p:nvSpPr>
        <p:spPr>
          <a:xfrm>
            <a:off x="640080" y="1280160"/>
            <a:ext cx="3931920" cy="3200400"/>
          </a:xfrm>
          <a:prstGeom prst="roundRect">
            <a:avLst>
              <a:gd name="adj" fmla="val 4286"/>
            </a:avLst>
          </a:prstGeom>
          <a:solidFill>
            <a:srgbClr val="ECF0F1"/>
          </a:solidFill>
          <a:ln/>
        </p:spPr>
      </p:sp>
      <p:sp>
        <p:nvSpPr>
          <p:cNvPr id="4" name="Text 2"/>
          <p:cNvSpPr txBox="1"/>
          <p:nvPr/>
        </p:nvSpPr>
        <p:spPr>
          <a:xfrm>
            <a:off x="914400" y="1417320"/>
            <a:ext cx="3383280" cy="2926080"/>
          </a:xfrm>
          <a:prstGeom prst="rect">
            <a:avLst/>
          </a:prstGeom>
          <a:noFill/>
          <a:ln/>
        </p:spPr>
        <p:txBody>
          <a:bodyPr wrap="square" lIns="0" tIns="0" rIns="0" bIns="0" rtlCol="0" anchor="t"/>
          <a:lstStyle/>
          <a:p>
            <a:pPr indent="0" marL="0">
              <a:spcAft>
                <a:spcPts val="1000"/>
              </a:spcAft>
              <a:buNone/>
            </a:pPr>
            <a:r>
              <a:rPr lang="en-US" sz="1600" b="1" dirty="0">
                <a:solidFill>
                  <a:srgbClr val="1E2A3A"/>
                </a:solidFill>
              </a:rPr>
              <a:t>How it works</a:t>
            </a:r>
            <a:endParaRPr lang="en-US" sz="1600" dirty="0"/>
          </a:p>
          <a:p>
            <a:pPr marL="342900" indent="-342900">
              <a:spcAft>
                <a:spcPts val="600"/>
              </a:spcAft>
              <a:buSzPct val="100000"/>
              <a:buChar char="•"/>
            </a:pPr>
            <a:r>
              <a:rPr lang="en-US" sz="1300" dirty="0">
                <a:solidFill>
                  <a:srgbClr val="2C3E50"/>
                </a:solidFill>
              </a:rPr>
              <a:t>Evolutionary search over the space of mathematical expressions</a:t>
            </a:r>
            <a:endParaRPr lang="en-US" sz="1600" dirty="0"/>
          </a:p>
          <a:p>
            <a:pPr marL="342900" indent="-342900">
              <a:spcAft>
                <a:spcPts val="600"/>
              </a:spcAft>
              <a:buSzPct val="100000"/>
              <a:buChar char="•"/>
            </a:pPr>
            <a:r>
              <a:rPr lang="en-US" sz="1300" dirty="0">
                <a:solidFill>
                  <a:srgbClr val="2C3E50"/>
                </a:solidFill>
              </a:rPr>
              <a:t>Populations of candidate equations compete, mutate, and recombine</a:t>
            </a:r>
            <a:endParaRPr lang="en-US" sz="1600" dirty="0"/>
          </a:p>
          <a:p>
            <a:pPr marL="342900" indent="-342900">
              <a:spcAft>
                <a:spcPts val="600"/>
              </a:spcAft>
              <a:buSzPct val="100000"/>
              <a:buChar char="•"/>
            </a:pPr>
            <a:r>
              <a:rPr lang="en-US" sz="1300" dirty="0">
                <a:solidFill>
                  <a:srgbClr val="2C3E50"/>
                </a:solidFill>
              </a:rPr>
              <a:t>Optimizes both accuracy and simplicity (Pareto frontier)</a:t>
            </a:r>
            <a:endParaRPr lang="en-US" sz="1600" dirty="0"/>
          </a:p>
          <a:p>
            <a:pPr marL="342900" indent="-342900">
              <a:spcAft>
                <a:spcPts val="1000"/>
              </a:spcAft>
              <a:buSzPct val="100000"/>
              <a:buChar char="•"/>
            </a:pPr>
            <a:r>
              <a:rPr lang="en-US" sz="1300" dirty="0">
                <a:solidFill>
                  <a:srgbClr val="2C3E50"/>
                </a:solidFill>
              </a:rPr>
              <a:t>Output: a set of equations at different complexity levels</a:t>
            </a:r>
            <a:endParaRPr lang="en-US" sz="1600" dirty="0"/>
          </a:p>
          <a:p>
            <a:pPr indent="0" marL="0">
              <a:buNone/>
            </a:pPr>
            <a:r>
              <a:rPr lang="en-US" sz="1100" i="1" dirty="0">
                <a:solidFill>
                  <a:srgbClr val="7F8C8D"/>
                </a:solidFill>
              </a:rPr>
              <a:t>We use PySR (Cranmer, 2023)</a:t>
            </a:r>
            <a:endParaRPr lang="en-US" sz="1600" dirty="0"/>
          </a:p>
        </p:txBody>
      </p:sp>
      <p:sp>
        <p:nvSpPr>
          <p:cNvPr id="5" name="Shape 3"/>
          <p:cNvSpPr/>
          <p:nvPr/>
        </p:nvSpPr>
        <p:spPr>
          <a:xfrm>
            <a:off x="4846320" y="1280160"/>
            <a:ext cx="3840480" cy="3200400"/>
          </a:xfrm>
          <a:prstGeom prst="roundRect">
            <a:avLst>
              <a:gd name="adj" fmla="val 4286"/>
            </a:avLst>
          </a:prstGeom>
          <a:solidFill>
            <a:srgbClr val="FFF3E6"/>
          </a:solidFill>
          <a:ln/>
        </p:spPr>
      </p:sp>
      <p:sp>
        <p:nvSpPr>
          <p:cNvPr id="6" name="Text 4"/>
          <p:cNvSpPr txBox="1"/>
          <p:nvPr/>
        </p:nvSpPr>
        <p:spPr>
          <a:xfrm>
            <a:off x="5120640" y="1417320"/>
            <a:ext cx="3291840" cy="2926080"/>
          </a:xfrm>
          <a:prstGeom prst="rect">
            <a:avLst/>
          </a:prstGeom>
          <a:noFill/>
          <a:ln/>
        </p:spPr>
        <p:txBody>
          <a:bodyPr wrap="square" lIns="0" tIns="0" rIns="0" bIns="0" rtlCol="0" anchor="t"/>
          <a:lstStyle/>
          <a:p>
            <a:pPr indent="0" marL="0">
              <a:spcAft>
                <a:spcPts val="1000"/>
              </a:spcAft>
              <a:buNone/>
            </a:pPr>
            <a:r>
              <a:rPr lang="en-US" sz="1600" b="1" dirty="0">
                <a:solidFill>
                  <a:srgbClr val="FB992E"/>
                </a:solidFill>
              </a:rPr>
              <a:t>Key difference from curve fitting</a:t>
            </a:r>
            <a:endParaRPr lang="en-US" sz="1600" dirty="0"/>
          </a:p>
          <a:p>
            <a:pPr indent="0" marL="0">
              <a:spcAft>
                <a:spcPts val="1000"/>
              </a:spcAft>
              <a:buNone/>
            </a:pPr>
            <a:r>
              <a:rPr lang="en-US" sz="1300" dirty="0">
                <a:solidFill>
                  <a:srgbClr val="2C3E50"/>
                </a:solidFill>
              </a:rPr>
              <a:t>Traditional fitting: you choose the equation form, then optimize constants</a:t>
            </a:r>
            <a:endParaRPr lang="en-US" sz="1600" dirty="0"/>
          </a:p>
          <a:p>
            <a:pPr indent="0" marL="0">
              <a:spcAft>
                <a:spcPts val="1000"/>
              </a:spcAft>
              <a:buNone/>
            </a:pPr>
            <a:r>
              <a:rPr lang="en-US" sz="1300" b="1" dirty="0">
                <a:solidFill>
                  <a:srgbClr val="2C3E50"/>
                </a:solidFill>
              </a:rPr>
              <a:t>Symbolic regression: the algorithm discovers the form itself</a:t>
            </a:r>
            <a:endParaRPr lang="en-US" sz="1600" dirty="0"/>
          </a:p>
          <a:p>
            <a:pPr indent="0" marL="0">
              <a:buNone/>
            </a:pPr>
            <a:r>
              <a:rPr lang="en-US" sz="1300" i="1" dirty="0">
                <a:solidFill>
                  <a:srgbClr val="2C3E50"/>
                </a:solidFill>
              </a:rPr>
              <a:t>The structure of the equation — which variables appear, how they combine — is learned, not prescribed.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548640"/>
          </a:xfrm>
          <a:prstGeom prst="rect">
            <a:avLst/>
          </a:prstGeom>
          <a:noFill/>
          <a:ln/>
        </p:spPr>
        <p:txBody>
          <a:bodyPr wrap="square" lIns="0" tIns="0" rIns="0" bIns="0" rtlCol="0" anchor="ctr"/>
          <a:lstStyle/>
          <a:p>
            <a:pPr indent="0" marL="0">
              <a:buNone/>
            </a:pPr>
            <a:r>
              <a:rPr lang="en-US" sz="2600" b="1" dirty="0">
                <a:solidFill>
                  <a:srgbClr val="1E2A3A"/>
                </a:solidFill>
                <a:latin typeface="Calibri" pitchFamily="34" charset="0"/>
                <a:ea typeface="Calibri" pitchFamily="34" charset="-122"/>
                <a:cs typeface="Calibri" pitchFamily="34" charset="-120"/>
              </a:rPr>
              <a:t>We build equations in stages, starting from a buoyancy baseline.</a:t>
            </a:r>
            <a:endParaRPr lang="en-US" sz="2600" dirty="0"/>
          </a:p>
        </p:txBody>
      </p:sp>
      <p:sp>
        <p:nvSpPr>
          <p:cNvPr id="3" name="Shape 1"/>
          <p:cNvSpPr/>
          <p:nvPr/>
        </p:nvSpPr>
        <p:spPr>
          <a:xfrm>
            <a:off x="640080" y="1280160"/>
            <a:ext cx="7863840" cy="1371600"/>
          </a:xfrm>
          <a:prstGeom prst="roundRect">
            <a:avLst>
              <a:gd name="adj" fmla="val 8000"/>
            </a:avLst>
          </a:prstGeom>
          <a:solidFill>
            <a:srgbClr val="FDF8EC"/>
          </a:solidFill>
          <a:ln/>
        </p:spPr>
      </p:sp>
      <p:sp>
        <p:nvSpPr>
          <p:cNvPr id="4" name="Shape 2"/>
          <p:cNvSpPr/>
          <p:nvPr/>
        </p:nvSpPr>
        <p:spPr>
          <a:xfrm>
            <a:off x="640080" y="1280160"/>
            <a:ext cx="109728" cy="1371600"/>
          </a:xfrm>
          <a:prstGeom prst="rect">
            <a:avLst/>
          </a:prstGeom>
          <a:solidFill>
            <a:srgbClr val="F2C75E"/>
          </a:solidFill>
          <a:ln/>
        </p:spPr>
      </p:sp>
      <p:sp>
        <p:nvSpPr>
          <p:cNvPr id="5" name="Text 3"/>
          <p:cNvSpPr txBox="1"/>
          <p:nvPr/>
        </p:nvSpPr>
        <p:spPr>
          <a:xfrm>
            <a:off x="1005840" y="1371600"/>
            <a:ext cx="7223760" cy="1188720"/>
          </a:xfrm>
          <a:prstGeom prst="rect">
            <a:avLst/>
          </a:prstGeom>
          <a:noFill/>
          <a:ln/>
        </p:spPr>
        <p:txBody>
          <a:bodyPr wrap="square" lIns="0" tIns="0" rIns="0" bIns="0" rtlCol="0" anchor="t"/>
          <a:lstStyle/>
          <a:p>
            <a:pPr indent="0" marL="0">
              <a:spcAft>
                <a:spcPts val="600"/>
              </a:spcAft>
              <a:buNone/>
            </a:pPr>
            <a:r>
              <a:rPr lang="en-US" sz="1800" b="1" dirty="0">
                <a:solidFill>
                  <a:srgbClr val="F2C75E"/>
                </a:solidFill>
              </a:rPr>
              <a:t>Stage 1: Buoyancy baseline (SR-BL)</a:t>
            </a:r>
            <a:endParaRPr lang="en-US" sz="1800" dirty="0"/>
          </a:p>
          <a:p>
            <a:pPr indent="0" marL="0">
              <a:spcAft>
                <a:spcPts val="600"/>
              </a:spcAft>
              <a:buNone/>
            </a:pPr>
            <a:r>
              <a:rPr lang="en-US" sz="2000" dirty="0">
                <a:solidFill>
                  <a:srgbClr val="2C3E50"/>
                </a:solidFill>
                <a:latin typeface="Courier New" pitchFamily="34" charset="0"/>
                <a:ea typeface="Courier New" pitchFamily="34" charset="-122"/>
                <a:cs typeface="Courier New" pitchFamily="34" charset="-120"/>
              </a:rPr>
              <a:t>P  =  (BL + a)³ + b</a:t>
            </a:r>
            <a:endParaRPr lang="en-US" sz="1800" dirty="0"/>
          </a:p>
          <a:p>
            <a:pPr indent="0" marL="0">
              <a:buNone/>
            </a:pPr>
            <a:r>
              <a:rPr lang="en-US" sz="1300" dirty="0">
                <a:solidFill>
                  <a:srgbClr val="2C3E50"/>
                </a:solidFill>
              </a:rPr>
              <a:t>BL is a plume buoyancy diagnostic. SR discovers that a cubic relationship captures the sharp onset of rainfall above a critical buoyancy threshold.</a:t>
            </a:r>
            <a:endParaRPr lang="en-US" sz="1800" dirty="0"/>
          </a:p>
        </p:txBody>
      </p:sp>
      <p:sp>
        <p:nvSpPr>
          <p:cNvPr id="6" name="Shape 4"/>
          <p:cNvSpPr/>
          <p:nvPr/>
        </p:nvSpPr>
        <p:spPr>
          <a:xfrm>
            <a:off x="640080" y="2880360"/>
            <a:ext cx="7863840" cy="1737360"/>
          </a:xfrm>
          <a:prstGeom prst="roundRect">
            <a:avLst>
              <a:gd name="adj" fmla="val 6316"/>
            </a:avLst>
          </a:prstGeom>
          <a:solidFill>
            <a:srgbClr val="FFF3E6"/>
          </a:solidFill>
          <a:ln/>
        </p:spPr>
      </p:sp>
      <p:sp>
        <p:nvSpPr>
          <p:cNvPr id="7" name="Shape 5"/>
          <p:cNvSpPr/>
          <p:nvPr/>
        </p:nvSpPr>
        <p:spPr>
          <a:xfrm>
            <a:off x="640080" y="2880360"/>
            <a:ext cx="109728" cy="1737360"/>
          </a:xfrm>
          <a:prstGeom prst="rect">
            <a:avLst/>
          </a:prstGeom>
          <a:solidFill>
            <a:srgbClr val="FB992E"/>
          </a:solidFill>
          <a:ln/>
        </p:spPr>
      </p:sp>
      <p:sp>
        <p:nvSpPr>
          <p:cNvPr id="8" name="Text 6"/>
          <p:cNvSpPr txBox="1"/>
          <p:nvPr/>
        </p:nvSpPr>
        <p:spPr>
          <a:xfrm>
            <a:off x="1005840" y="2971800"/>
            <a:ext cx="7223760" cy="1554480"/>
          </a:xfrm>
          <a:prstGeom prst="rect">
            <a:avLst/>
          </a:prstGeom>
          <a:noFill/>
          <a:ln/>
        </p:spPr>
        <p:txBody>
          <a:bodyPr wrap="square" lIns="0" tIns="0" rIns="0" bIns="0" rtlCol="0" anchor="t"/>
          <a:lstStyle/>
          <a:p>
            <a:pPr indent="0" marL="0">
              <a:spcAft>
                <a:spcPts val="600"/>
              </a:spcAft>
              <a:buNone/>
            </a:pPr>
            <a:r>
              <a:rPr lang="en-US" sz="1800" b="1" dirty="0">
                <a:solidFill>
                  <a:srgbClr val="FB992E"/>
                </a:solidFill>
              </a:rPr>
              <a:t>Stage 2: Atmospheric thermodynamics (SR-ATM)</a:t>
            </a:r>
            <a:endParaRPr lang="en-US" sz="1800" dirty="0"/>
          </a:p>
          <a:p>
            <a:pPr indent="0" marL="0">
              <a:spcAft>
                <a:spcPts val="600"/>
              </a:spcAft>
              <a:buNone/>
            </a:pPr>
            <a:r>
              <a:rPr lang="en-US" sz="2000" dirty="0">
                <a:solidFill>
                  <a:srgbClr val="2C3E50"/>
                </a:solidFill>
                <a:latin typeface="Courier New" pitchFamily="34" charset="0"/>
                <a:ea typeface="Courier New" pitchFamily="34" charset="-122"/>
                <a:cs typeface="Courier New" pitchFamily="34" charset="-120"/>
              </a:rPr>
              <a:t>P  =  a · ( max(RH, b·θe − c·θe* − d) )³</a:t>
            </a:r>
            <a:endParaRPr lang="en-US" sz="1800" dirty="0"/>
          </a:p>
          <a:p>
            <a:pPr indent="0" marL="0">
              <a:buNone/>
            </a:pPr>
            <a:r>
              <a:rPr lang="en-US" sz="1300" dirty="0">
                <a:solidFill>
                  <a:srgbClr val="2C3E50"/>
                </a:solidFill>
              </a:rPr>
              <a:t>SR discovers that rainfall depends on the interplay between moisture (RH) and buoyancy (θe − θe*), with a max() selecting whichever control is more limiting. This is the main equation we'll interpret.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7863840" cy="548640"/>
          </a:xfrm>
          <a:prstGeom prst="rect">
            <a:avLst/>
          </a:prstGeom>
          <a:noFill/>
          <a:ln/>
        </p:spPr>
        <p:txBody>
          <a:bodyPr wrap="square" lIns="0" tIns="0" rIns="0" bIns="0" rtlCol="0" anchor="ctr"/>
          <a:lstStyle/>
          <a:p>
            <a:pPr indent="0" marL="0">
              <a:buNone/>
            </a:pPr>
            <a:r>
              <a:rPr lang="en-US" sz="2700" b="1" dirty="0">
                <a:solidFill>
                  <a:srgbClr val="1E2A3A"/>
                </a:solidFill>
                <a:latin typeface="Calibri" pitchFamily="34" charset="0"/>
                <a:ea typeface="Calibri" pitchFamily="34" charset="-122"/>
                <a:cs typeface="Calibri" pitchFamily="34" charset="-120"/>
              </a:rPr>
              <a:t>The equation reveals two regimes of rainfall control.</a:t>
            </a:r>
            <a:endParaRPr lang="en-US" sz="2700" dirty="0"/>
          </a:p>
        </p:txBody>
      </p:sp>
      <p:sp>
        <p:nvSpPr>
          <p:cNvPr id="3" name="Text 1"/>
          <p:cNvSpPr txBox="1"/>
          <p:nvPr/>
        </p:nvSpPr>
        <p:spPr>
          <a:xfrm>
            <a:off x="640080" y="1051560"/>
            <a:ext cx="7863840" cy="457200"/>
          </a:xfrm>
          <a:prstGeom prst="rect">
            <a:avLst/>
          </a:prstGeom>
          <a:noFill/>
          <a:ln/>
        </p:spPr>
        <p:txBody>
          <a:bodyPr wrap="square" lIns="0" tIns="0" rIns="0" bIns="0" rtlCol="0" anchor="ctr"/>
          <a:lstStyle/>
          <a:p>
            <a:pPr algn="ctr" indent="0" marL="0">
              <a:buNone/>
            </a:pPr>
            <a:r>
              <a:rPr lang="en-US" sz="2000" dirty="0">
                <a:solidFill>
                  <a:srgbClr val="2C3E50"/>
                </a:solidFill>
                <a:latin typeface="Courier New" pitchFamily="34" charset="0"/>
                <a:ea typeface="Courier New" pitchFamily="34" charset="-122"/>
                <a:cs typeface="Courier New" pitchFamily="34" charset="-120"/>
              </a:rPr>
              <a:t>P  =  a · ( max(  RH  ,  b·θe − c·θe* − d  ) )³</a:t>
            </a:r>
            <a:endParaRPr lang="en-US" sz="2000" dirty="0"/>
          </a:p>
        </p:txBody>
      </p:sp>
      <p:sp>
        <p:nvSpPr>
          <p:cNvPr id="4" name="Shape 2"/>
          <p:cNvSpPr/>
          <p:nvPr/>
        </p:nvSpPr>
        <p:spPr>
          <a:xfrm>
            <a:off x="640080" y="1691640"/>
            <a:ext cx="3749040" cy="2560320"/>
          </a:xfrm>
          <a:prstGeom prst="roundRect">
            <a:avLst>
              <a:gd name="adj" fmla="val 4286"/>
            </a:avLst>
          </a:prstGeom>
          <a:solidFill>
            <a:srgbClr val="E8F4FD"/>
          </a:solidFill>
          <a:ln/>
        </p:spPr>
      </p:sp>
      <p:sp>
        <p:nvSpPr>
          <p:cNvPr id="5" name="Text 3"/>
          <p:cNvSpPr txBox="1"/>
          <p:nvPr/>
        </p:nvSpPr>
        <p:spPr>
          <a:xfrm>
            <a:off x="914400" y="1783080"/>
            <a:ext cx="3200400" cy="2377440"/>
          </a:xfrm>
          <a:prstGeom prst="rect">
            <a:avLst/>
          </a:prstGeom>
          <a:noFill/>
          <a:ln/>
        </p:spPr>
        <p:txBody>
          <a:bodyPr wrap="square" lIns="0" tIns="0" rIns="0" bIns="0" rtlCol="0" anchor="t"/>
          <a:lstStyle/>
          <a:p>
            <a:pPr indent="0" marL="0">
              <a:spcAft>
                <a:spcPts val="800"/>
              </a:spcAft>
              <a:buNone/>
            </a:pPr>
            <a:r>
              <a:rPr lang="en-US" sz="1800" b="1" dirty="0">
                <a:solidFill>
                  <a:srgbClr val="2980B9"/>
                </a:solidFill>
              </a:rPr>
              <a:t>Moisture-limited regime</a:t>
            </a:r>
            <a:endParaRPr lang="en-US" sz="1800" dirty="0"/>
          </a:p>
          <a:p>
            <a:pPr indent="0" marL="0">
              <a:spcAft>
                <a:spcPts val="1000"/>
              </a:spcAft>
              <a:buNone/>
            </a:pPr>
            <a:r>
              <a:rPr lang="en-US" sz="1300" dirty="0">
                <a:solidFill>
                  <a:srgbClr val="2C3E50"/>
                </a:solidFill>
                <a:latin typeface="Courier New" pitchFamily="34" charset="0"/>
                <a:ea typeface="Courier New" pitchFamily="34" charset="-122"/>
                <a:cs typeface="Courier New" pitchFamily="34" charset="-120"/>
              </a:rPr>
              <a:t>When RH &gt; b·θe − c·θe* − d</a:t>
            </a:r>
            <a:endParaRPr lang="en-US" sz="1800" dirty="0"/>
          </a:p>
          <a:p>
            <a:pPr indent="0" marL="0">
              <a:spcAft>
                <a:spcPts val="600"/>
              </a:spcAft>
              <a:buNone/>
            </a:pPr>
            <a:r>
              <a:rPr lang="en-US" sz="1400" b="1" dirty="0">
                <a:solidFill>
                  <a:srgbClr val="2C3E50"/>
                </a:solidFill>
              </a:rPr>
              <a:t>max() selects RH</a:t>
            </a:r>
            <a:endParaRPr lang="en-US" sz="1800" dirty="0"/>
          </a:p>
          <a:p>
            <a:pPr indent="0" marL="0">
              <a:spcAft>
                <a:spcPts val="600"/>
              </a:spcAft>
              <a:buNone/>
            </a:pPr>
            <a:r>
              <a:rPr lang="en-US" sz="1300" dirty="0">
                <a:solidFill>
                  <a:srgbClr val="2C3E50"/>
                </a:solidFill>
              </a:rPr>
              <a:t>Buoyancy is sufficient, but the atmosphere is too dry for deep convection to develop.</a:t>
            </a:r>
            <a:endParaRPr lang="en-US" sz="1800" dirty="0"/>
          </a:p>
          <a:p>
            <a:pPr indent="0" marL="0">
              <a:buNone/>
            </a:pPr>
            <a:r>
              <a:rPr lang="en-US" sz="1300" i="1" dirty="0">
                <a:solidFill>
                  <a:srgbClr val="2C3E50"/>
                </a:solidFill>
              </a:rPr>
              <a:t>Rainfall is controlled by lower-tropospheric moisture availability.</a:t>
            </a:r>
            <a:endParaRPr lang="en-US" sz="1800" dirty="0"/>
          </a:p>
        </p:txBody>
      </p:sp>
      <p:sp>
        <p:nvSpPr>
          <p:cNvPr id="6" name="Shape 4"/>
          <p:cNvSpPr/>
          <p:nvPr/>
        </p:nvSpPr>
        <p:spPr>
          <a:xfrm>
            <a:off x="4754880" y="1691640"/>
            <a:ext cx="3749040" cy="2560320"/>
          </a:xfrm>
          <a:prstGeom prst="roundRect">
            <a:avLst>
              <a:gd name="adj" fmla="val 4286"/>
            </a:avLst>
          </a:prstGeom>
          <a:solidFill>
            <a:srgbClr val="FDF0E6"/>
          </a:solidFill>
          <a:ln/>
        </p:spPr>
      </p:sp>
      <p:sp>
        <p:nvSpPr>
          <p:cNvPr id="7" name="Text 5"/>
          <p:cNvSpPr txBox="1"/>
          <p:nvPr/>
        </p:nvSpPr>
        <p:spPr>
          <a:xfrm>
            <a:off x="5029200" y="1783080"/>
            <a:ext cx="3200400" cy="2377440"/>
          </a:xfrm>
          <a:prstGeom prst="rect">
            <a:avLst/>
          </a:prstGeom>
          <a:noFill/>
          <a:ln/>
        </p:spPr>
        <p:txBody>
          <a:bodyPr wrap="square" lIns="0" tIns="0" rIns="0" bIns="0" rtlCol="0" anchor="t"/>
          <a:lstStyle/>
          <a:p>
            <a:pPr indent="0" marL="0">
              <a:spcAft>
                <a:spcPts val="800"/>
              </a:spcAft>
              <a:buNone/>
            </a:pPr>
            <a:r>
              <a:rPr lang="en-US" sz="1800" b="1" dirty="0">
                <a:solidFill>
                  <a:srgbClr val="FB992E"/>
                </a:solidFill>
              </a:rPr>
              <a:t>Buoyancy-limited regime</a:t>
            </a:r>
            <a:endParaRPr lang="en-US" sz="1800" dirty="0"/>
          </a:p>
          <a:p>
            <a:pPr indent="0" marL="0">
              <a:spcAft>
                <a:spcPts val="1000"/>
              </a:spcAft>
              <a:buNone/>
            </a:pPr>
            <a:r>
              <a:rPr lang="en-US" sz="1300" dirty="0">
                <a:solidFill>
                  <a:srgbClr val="2C3E50"/>
                </a:solidFill>
                <a:latin typeface="Courier New" pitchFamily="34" charset="0"/>
                <a:ea typeface="Courier New" pitchFamily="34" charset="-122"/>
                <a:cs typeface="Courier New" pitchFamily="34" charset="-120"/>
              </a:rPr>
              <a:t>When b·θe − c·θe* − d &gt; RH</a:t>
            </a:r>
            <a:endParaRPr lang="en-US" sz="1800" dirty="0"/>
          </a:p>
          <a:p>
            <a:pPr indent="0" marL="0">
              <a:spcAft>
                <a:spcPts val="600"/>
              </a:spcAft>
              <a:buNone/>
            </a:pPr>
            <a:r>
              <a:rPr lang="en-US" sz="1400" b="1" dirty="0">
                <a:solidFill>
                  <a:srgbClr val="2C3E50"/>
                </a:solidFill>
              </a:rPr>
              <a:t>max() selects θe − θe*</a:t>
            </a:r>
            <a:endParaRPr lang="en-US" sz="1800" dirty="0"/>
          </a:p>
          <a:p>
            <a:pPr indent="0" marL="0">
              <a:spcAft>
                <a:spcPts val="600"/>
              </a:spcAft>
              <a:buNone/>
            </a:pPr>
            <a:r>
              <a:rPr lang="en-US" sz="1300" dirty="0">
                <a:solidFill>
                  <a:srgbClr val="2C3E50"/>
                </a:solidFill>
              </a:rPr>
              <a:t>Moisture is adequate, but convection intensity depends on the thermodynamic disequilibrium between boundary-layer energy and environmental saturation.</a:t>
            </a:r>
            <a:endParaRPr lang="en-US" sz="1800" dirty="0"/>
          </a:p>
          <a:p>
            <a:pPr indent="0" marL="0">
              <a:buNone/>
            </a:pPr>
            <a:r>
              <a:rPr lang="en-US" sz="1300" i="1" dirty="0">
                <a:solidFill>
                  <a:srgbClr val="2C3E50"/>
                </a:solidFill>
              </a:rPr>
              <a:t>Rainfall is controlled by convective instability.</a:t>
            </a:r>
            <a:endParaRPr lang="en-US" sz="1800" dirty="0"/>
          </a:p>
        </p:txBody>
      </p:sp>
      <p:sp>
        <p:nvSpPr>
          <p:cNvPr id="8" name="Shape 6"/>
          <p:cNvSpPr/>
          <p:nvPr/>
        </p:nvSpPr>
        <p:spPr>
          <a:xfrm>
            <a:off x="1828800" y="4434840"/>
            <a:ext cx="5486400" cy="502920"/>
          </a:xfrm>
          <a:prstGeom prst="roundRect">
            <a:avLst>
              <a:gd name="adj" fmla="val 18182"/>
            </a:avLst>
          </a:prstGeom>
          <a:solidFill>
            <a:srgbClr val="ECF0F1"/>
          </a:solidFill>
          <a:ln/>
        </p:spPr>
      </p:sp>
      <p:sp>
        <p:nvSpPr>
          <p:cNvPr id="9" name="Text 7"/>
          <p:cNvSpPr txBox="1"/>
          <p:nvPr/>
        </p:nvSpPr>
        <p:spPr>
          <a:xfrm>
            <a:off x="1828800" y="4434840"/>
            <a:ext cx="5486400" cy="50292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The cube amplifies large positive anomalies → sharp rainfall onset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7863840" cy="548640"/>
          </a:xfrm>
          <a:prstGeom prst="rect">
            <a:avLst/>
          </a:prstGeom>
          <a:noFill/>
          <a:ln/>
        </p:spPr>
        <p:txBody>
          <a:bodyPr wrap="square" lIns="0" tIns="0" rIns="0" bIns="0" rtlCol="0" anchor="ctr"/>
          <a:lstStyle/>
          <a:p>
            <a:pPr indent="0" marL="0">
              <a:buNone/>
            </a:pPr>
            <a:r>
              <a:rPr lang="en-US" sz="2600" b="1" dirty="0">
                <a:solidFill>
                  <a:srgbClr val="1E2A3A"/>
                </a:solidFill>
                <a:latin typeface="Calibri" pitchFamily="34" charset="0"/>
                <a:ea typeface="Calibri" pitchFamily="34" charset="-122"/>
                <a:cs typeface="Calibri" pitchFamily="34" charset="-120"/>
              </a:rPr>
              <a:t>Surface fluxes and land fraction modulate the atmospheric signal.</a:t>
            </a:r>
            <a:endParaRPr lang="en-US" sz="2600" dirty="0"/>
          </a:p>
        </p:txBody>
      </p:sp>
      <p:sp>
        <p:nvSpPr>
          <p:cNvPr id="3" name="Shape 1"/>
          <p:cNvSpPr/>
          <p:nvPr/>
        </p:nvSpPr>
        <p:spPr>
          <a:xfrm>
            <a:off x="640080" y="1188720"/>
            <a:ext cx="7863840" cy="1508760"/>
          </a:xfrm>
          <a:prstGeom prst="roundRect">
            <a:avLst>
              <a:gd name="adj" fmla="val 7273"/>
            </a:avLst>
          </a:prstGeom>
          <a:solidFill>
            <a:srgbClr val="FDEEED"/>
          </a:solidFill>
          <a:ln/>
        </p:spPr>
      </p:sp>
      <p:sp>
        <p:nvSpPr>
          <p:cNvPr id="4" name="Shape 2"/>
          <p:cNvSpPr/>
          <p:nvPr/>
        </p:nvSpPr>
        <p:spPr>
          <a:xfrm>
            <a:off x="640080" y="1188720"/>
            <a:ext cx="109728" cy="1508760"/>
          </a:xfrm>
          <a:prstGeom prst="rect">
            <a:avLst/>
          </a:prstGeom>
          <a:solidFill>
            <a:srgbClr val="C44E52"/>
          </a:solidFill>
          <a:ln/>
        </p:spPr>
      </p:sp>
      <p:sp>
        <p:nvSpPr>
          <p:cNvPr id="5" name="Text 3"/>
          <p:cNvSpPr txBox="1"/>
          <p:nvPr/>
        </p:nvSpPr>
        <p:spPr>
          <a:xfrm>
            <a:off x="1005840" y="1280160"/>
            <a:ext cx="7223760" cy="1325880"/>
          </a:xfrm>
          <a:prstGeom prst="rect">
            <a:avLst/>
          </a:prstGeom>
          <a:noFill/>
          <a:ln/>
        </p:spPr>
        <p:txBody>
          <a:bodyPr wrap="square" lIns="0" tIns="0" rIns="0" bIns="0" rtlCol="0" anchor="t"/>
          <a:lstStyle/>
          <a:p>
            <a:pPr indent="0" marL="0">
              <a:spcAft>
                <a:spcPts val="600"/>
              </a:spcAft>
              <a:buNone/>
            </a:pPr>
            <a:r>
              <a:rPr lang="en-US" sz="1700" b="1" dirty="0">
                <a:solidFill>
                  <a:srgbClr val="C44E52"/>
                </a:solidFill>
              </a:rPr>
              <a:t>Stage 3: Surface correction (SR-SFC)</a:t>
            </a:r>
            <a:endParaRPr lang="en-US" sz="1700" dirty="0"/>
          </a:p>
          <a:p>
            <a:pPr indent="0" marL="0">
              <a:spcAft>
                <a:spcPts val="600"/>
              </a:spcAft>
              <a:buNone/>
            </a:pPr>
            <a:r>
              <a:rPr lang="en-US" sz="1900" dirty="0">
                <a:solidFill>
                  <a:srgbClr val="2C3E50"/>
                </a:solidFill>
                <a:latin typeface="Courier New" pitchFamily="34" charset="0"/>
                <a:ea typeface="Courier New" pitchFamily="34" charset="-122"/>
                <a:cs typeface="Courier New" pitchFamily="34" charset="-120"/>
              </a:rPr>
              <a:t>P  =  SR-ATM  +  a · SHF · (b − LF)</a:t>
            </a:r>
            <a:endParaRPr lang="en-US" sz="1700" dirty="0"/>
          </a:p>
          <a:p>
            <a:pPr indent="0" marL="0">
              <a:buNone/>
            </a:pPr>
            <a:r>
              <a:rPr lang="en-US" sz="1300" dirty="0">
                <a:solidFill>
                  <a:srgbClr val="2C3E50"/>
                </a:solidFill>
              </a:rPr>
              <a:t>Sensible heat flux contributes over ocean (where LF &lt; b), consistent with SST-driven surface destabilization enhancing oceanic convection.</a:t>
            </a:r>
            <a:endParaRPr lang="en-US" sz="1700" dirty="0"/>
          </a:p>
        </p:txBody>
      </p:sp>
      <p:sp>
        <p:nvSpPr>
          <p:cNvPr id="6" name="Shape 4"/>
          <p:cNvSpPr/>
          <p:nvPr/>
        </p:nvSpPr>
        <p:spPr>
          <a:xfrm>
            <a:off x="640080" y="2926080"/>
            <a:ext cx="7863840" cy="1691640"/>
          </a:xfrm>
          <a:prstGeom prst="roundRect">
            <a:avLst>
              <a:gd name="adj" fmla="val 6486"/>
            </a:avLst>
          </a:prstGeom>
          <a:solidFill>
            <a:srgbClr val="F0ECF5"/>
          </a:solidFill>
          <a:ln/>
        </p:spPr>
      </p:sp>
      <p:sp>
        <p:nvSpPr>
          <p:cNvPr id="7" name="Shape 5"/>
          <p:cNvSpPr/>
          <p:nvPr/>
        </p:nvSpPr>
        <p:spPr>
          <a:xfrm>
            <a:off x="640080" y="2926080"/>
            <a:ext cx="109728" cy="1691640"/>
          </a:xfrm>
          <a:prstGeom prst="rect">
            <a:avLst/>
          </a:prstGeom>
          <a:solidFill>
            <a:srgbClr val="8B6FB0"/>
          </a:solidFill>
          <a:ln/>
        </p:spPr>
      </p:sp>
      <p:sp>
        <p:nvSpPr>
          <p:cNvPr id="8" name="Text 6"/>
          <p:cNvSpPr txBox="1"/>
          <p:nvPr/>
        </p:nvSpPr>
        <p:spPr>
          <a:xfrm>
            <a:off x="1005840" y="3017520"/>
            <a:ext cx="7223760" cy="1508760"/>
          </a:xfrm>
          <a:prstGeom prst="rect">
            <a:avLst/>
          </a:prstGeom>
          <a:noFill/>
          <a:ln/>
        </p:spPr>
        <p:txBody>
          <a:bodyPr wrap="square" lIns="0" tIns="0" rIns="0" bIns="0" rtlCol="0" anchor="t"/>
          <a:lstStyle/>
          <a:p>
            <a:pPr indent="0" marL="0">
              <a:spcAft>
                <a:spcPts val="600"/>
              </a:spcAft>
              <a:buNone/>
            </a:pPr>
            <a:r>
              <a:rPr lang="en-US" sz="1700" b="1" dirty="0">
                <a:solidFill>
                  <a:srgbClr val="8B6FB0"/>
                </a:solidFill>
              </a:rPr>
              <a:t>Stage 4: Full equation (SR-ALL)</a:t>
            </a:r>
            <a:endParaRPr lang="en-US" sz="1700" dirty="0"/>
          </a:p>
          <a:p>
            <a:pPr indent="0" marL="0">
              <a:spcAft>
                <a:spcPts val="600"/>
              </a:spcAft>
              <a:buNone/>
            </a:pPr>
            <a:r>
              <a:rPr lang="en-US" sz="1900" dirty="0">
                <a:solidFill>
                  <a:srgbClr val="2C3E50"/>
                </a:solidFill>
                <a:latin typeface="Courier New" pitchFamily="34" charset="0"/>
                <a:ea typeface="Courier New" pitchFamily="34" charset="-122"/>
                <a:cs typeface="Courier New" pitchFamily="34" charset="-120"/>
              </a:rPr>
              <a:t>P  =  SR-ATM  +  (a·θe + b·SHF) · (c − LF)³ + d</a:t>
            </a:r>
            <a:endParaRPr lang="en-US" sz="1700" dirty="0"/>
          </a:p>
          <a:p>
            <a:pPr indent="0" marL="0">
              <a:buNone/>
            </a:pPr>
            <a:r>
              <a:rPr lang="en-US" sz="1300" dirty="0">
                <a:solidFill>
                  <a:srgbClr val="2C3E50"/>
                </a:solidFill>
              </a:rPr>
              <a:t>Land fraction appears cubed, creating a sharp ocean/land contrast. Surface heat fluxes interact with near-surface energy (θe) to modulate rainfall differently over land and ocean.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7863840" cy="548640"/>
          </a:xfrm>
          <a:prstGeom prst="rect">
            <a:avLst/>
          </a:prstGeom>
          <a:noFill/>
          <a:ln/>
        </p:spPr>
        <p:txBody>
          <a:bodyPr wrap="square" lIns="0" tIns="0" rIns="0" bIns="0" rtlCol="0" anchor="ctr"/>
          <a:lstStyle/>
          <a:p>
            <a:pPr indent="0" marL="0">
              <a:buNone/>
            </a:pPr>
            <a:r>
              <a:rPr lang="en-US" sz="2800" b="1" dirty="0">
                <a:solidFill>
                  <a:srgbClr val="1E2A3A"/>
                </a:solidFill>
                <a:latin typeface="Calibri" pitchFamily="34" charset="0"/>
                <a:ea typeface="Calibri" pitchFamily="34" charset="-122"/>
                <a:cs typeface="Calibri" pitchFamily="34" charset="-120"/>
              </a:rPr>
              <a:t>Compact equations capture substantial skill.</a:t>
            </a:r>
            <a:endParaRPr lang="en-US" sz="2800" dirty="0"/>
          </a:p>
        </p:txBody>
      </p:sp>
      <p:sp>
        <p:nvSpPr>
          <p:cNvPr id="3" name="Text 1"/>
          <p:cNvSpPr txBox="1"/>
          <p:nvPr/>
        </p:nvSpPr>
        <p:spPr>
          <a:xfrm>
            <a:off x="274320" y="1280160"/>
            <a:ext cx="2560320" cy="502920"/>
          </a:xfrm>
          <a:prstGeom prst="rect">
            <a:avLst/>
          </a:prstGeom>
          <a:noFill/>
          <a:ln/>
        </p:spPr>
        <p:txBody>
          <a:bodyPr wrap="square" lIns="0" tIns="0" rIns="0" bIns="0" rtlCol="0" anchor="ctr"/>
          <a:lstStyle/>
          <a:p>
            <a:pPr algn="r" indent="0" marL="0">
              <a:buNone/>
            </a:pPr>
            <a:r>
              <a:rPr lang="en-US" sz="1100" dirty="0">
                <a:solidFill>
                  <a:srgbClr val="2C3E50"/>
                </a:solidFill>
                <a:latin typeface="Calibri" pitchFamily="34" charset="0"/>
                <a:ea typeface="Calibri" pitchFamily="34" charset="-122"/>
                <a:cs typeface="Calibri" pitchFamily="34" charset="-120"/>
              </a:rPr>
              <a:t>Physics baseline</a:t>
            </a:r>
            <a:endParaRPr lang="en-US" sz="1100" dirty="0"/>
          </a:p>
          <a:p>
            <a:pPr algn="r" indent="0" marL="0">
              <a:buNone/>
            </a:pPr>
            <a:r>
              <a:rPr lang="en-US" sz="1100" dirty="0">
                <a:solidFill>
                  <a:srgbClr val="2C3E50"/>
                </a:solidFill>
                <a:latin typeface="Calibri" pitchFamily="34" charset="0"/>
                <a:ea typeface="Calibri" pitchFamily="34" charset="-122"/>
                <a:cs typeface="Calibri" pitchFamily="34" charset="-120"/>
              </a:rPr>
              <a:t>(POD-BL)</a:t>
            </a:r>
            <a:endParaRPr lang="en-US" sz="1100" dirty="0"/>
          </a:p>
        </p:txBody>
      </p:sp>
      <p:sp>
        <p:nvSpPr>
          <p:cNvPr id="4" name="Shape 2"/>
          <p:cNvSpPr/>
          <p:nvPr/>
        </p:nvSpPr>
        <p:spPr>
          <a:xfrm>
            <a:off x="3017520" y="1353312"/>
            <a:ext cx="897519" cy="356616"/>
          </a:xfrm>
          <a:prstGeom prst="roundRect">
            <a:avLst>
              <a:gd name="adj" fmla="val 15385"/>
            </a:avLst>
          </a:prstGeom>
          <a:solidFill>
            <a:srgbClr val="BDC3C7"/>
          </a:solidFill>
          <a:ln/>
        </p:spPr>
      </p:sp>
      <p:sp>
        <p:nvSpPr>
          <p:cNvPr id="5" name="Text 3"/>
          <p:cNvSpPr txBox="1"/>
          <p:nvPr/>
        </p:nvSpPr>
        <p:spPr>
          <a:xfrm>
            <a:off x="4052199" y="1280160"/>
            <a:ext cx="914400" cy="502920"/>
          </a:xfrm>
          <a:prstGeom prst="rect">
            <a:avLst/>
          </a:prstGeom>
          <a:noFill/>
          <a:ln/>
        </p:spPr>
        <p:txBody>
          <a:bodyPr wrap="square" lIns="0" tIns="0" rIns="0" bIns="0" rtlCol="0" anchor="ctr"/>
          <a:lstStyle/>
          <a:p>
            <a:pPr indent="0" marL="0">
              <a:buNone/>
            </a:pPr>
            <a:r>
              <a:rPr lang="en-US" sz="1200" b="1" dirty="0">
                <a:solidFill>
                  <a:srgbClr val="2C3E50"/>
                </a:solidFill>
                <a:latin typeface="Calibri" pitchFamily="34" charset="0"/>
                <a:ea typeface="Calibri" pitchFamily="34" charset="-122"/>
                <a:cs typeface="Calibri" pitchFamily="34" charset="-120"/>
              </a:rPr>
              <a:t>R² = 0.11</a:t>
            </a:r>
            <a:endParaRPr lang="en-US" sz="1200" dirty="0"/>
          </a:p>
        </p:txBody>
      </p:sp>
      <p:sp>
        <p:nvSpPr>
          <p:cNvPr id="6" name="Text 4"/>
          <p:cNvSpPr txBox="1"/>
          <p:nvPr/>
        </p:nvSpPr>
        <p:spPr>
          <a:xfrm>
            <a:off x="274320" y="1892808"/>
            <a:ext cx="2560320" cy="502920"/>
          </a:xfrm>
          <a:prstGeom prst="rect">
            <a:avLst/>
          </a:prstGeom>
          <a:noFill/>
          <a:ln/>
        </p:spPr>
        <p:txBody>
          <a:bodyPr wrap="square" lIns="0" tIns="0" rIns="0" bIns="0" rtlCol="0" anchor="ctr"/>
          <a:lstStyle/>
          <a:p>
            <a:pPr algn="r" indent="0" marL="0">
              <a:buNone/>
            </a:pPr>
            <a:r>
              <a:rPr lang="en-US" sz="1100" dirty="0">
                <a:solidFill>
                  <a:srgbClr val="2C3E50"/>
                </a:solidFill>
                <a:latin typeface="Calibri" pitchFamily="34" charset="0"/>
                <a:ea typeface="Calibri" pitchFamily="34" charset="-122"/>
                <a:cs typeface="Calibri" pitchFamily="34" charset="-120"/>
              </a:rPr>
              <a:t>SR-BL</a:t>
            </a:r>
            <a:endParaRPr lang="en-US" sz="1100" dirty="0"/>
          </a:p>
          <a:p>
            <a:pPr algn="r" indent="0" marL="0">
              <a:buNone/>
            </a:pPr>
            <a:r>
              <a:rPr lang="en-US" sz="1100" dirty="0">
                <a:solidFill>
                  <a:srgbClr val="2C3E50"/>
                </a:solidFill>
                <a:latin typeface="Calibri" pitchFamily="34" charset="0"/>
                <a:ea typeface="Calibri" pitchFamily="34" charset="-122"/>
                <a:cs typeface="Calibri" pitchFamily="34" charset="-120"/>
              </a:rPr>
              <a:t>(BL + a)³ + b</a:t>
            </a:r>
            <a:endParaRPr lang="en-US" sz="1100" dirty="0"/>
          </a:p>
        </p:txBody>
      </p:sp>
      <p:sp>
        <p:nvSpPr>
          <p:cNvPr id="7" name="Shape 5"/>
          <p:cNvSpPr/>
          <p:nvPr/>
        </p:nvSpPr>
        <p:spPr>
          <a:xfrm>
            <a:off x="3017520" y="1965960"/>
            <a:ext cx="1550260" cy="356616"/>
          </a:xfrm>
          <a:prstGeom prst="roundRect">
            <a:avLst>
              <a:gd name="adj" fmla="val 15385"/>
            </a:avLst>
          </a:prstGeom>
          <a:solidFill>
            <a:srgbClr val="F2C75E"/>
          </a:solidFill>
          <a:ln/>
        </p:spPr>
      </p:sp>
      <p:sp>
        <p:nvSpPr>
          <p:cNvPr id="8" name="Text 6"/>
          <p:cNvSpPr txBox="1"/>
          <p:nvPr/>
        </p:nvSpPr>
        <p:spPr>
          <a:xfrm>
            <a:off x="4704940" y="1892808"/>
            <a:ext cx="914400" cy="502920"/>
          </a:xfrm>
          <a:prstGeom prst="rect">
            <a:avLst/>
          </a:prstGeom>
          <a:noFill/>
          <a:ln/>
        </p:spPr>
        <p:txBody>
          <a:bodyPr wrap="square" lIns="0" tIns="0" rIns="0" bIns="0" rtlCol="0" anchor="ctr"/>
          <a:lstStyle/>
          <a:p>
            <a:pPr indent="0" marL="0">
              <a:buNone/>
            </a:pPr>
            <a:r>
              <a:rPr lang="en-US" sz="1200" b="1" dirty="0">
                <a:solidFill>
                  <a:srgbClr val="2C3E50"/>
                </a:solidFill>
                <a:latin typeface="Calibri" pitchFamily="34" charset="0"/>
                <a:ea typeface="Calibri" pitchFamily="34" charset="-122"/>
                <a:cs typeface="Calibri" pitchFamily="34" charset="-120"/>
              </a:rPr>
              <a:t>R² = 0.19</a:t>
            </a:r>
            <a:endParaRPr lang="en-US" sz="1200" dirty="0"/>
          </a:p>
        </p:txBody>
      </p:sp>
      <p:sp>
        <p:nvSpPr>
          <p:cNvPr id="9" name="Text 7"/>
          <p:cNvSpPr txBox="1"/>
          <p:nvPr/>
        </p:nvSpPr>
        <p:spPr>
          <a:xfrm>
            <a:off x="274320" y="2505456"/>
            <a:ext cx="2560320" cy="502920"/>
          </a:xfrm>
          <a:prstGeom prst="rect">
            <a:avLst/>
          </a:prstGeom>
          <a:noFill/>
          <a:ln/>
        </p:spPr>
        <p:txBody>
          <a:bodyPr wrap="square" lIns="0" tIns="0" rIns="0" bIns="0" rtlCol="0" anchor="ctr"/>
          <a:lstStyle/>
          <a:p>
            <a:pPr algn="r" indent="0" marL="0">
              <a:buNone/>
            </a:pPr>
            <a:r>
              <a:rPr lang="en-US" sz="1100" dirty="0">
                <a:solidFill>
                  <a:srgbClr val="2C3E50"/>
                </a:solidFill>
                <a:latin typeface="Calibri" pitchFamily="34" charset="0"/>
                <a:ea typeface="Calibri" pitchFamily="34" charset="-122"/>
                <a:cs typeface="Calibri" pitchFamily="34" charset="-120"/>
              </a:rPr>
              <a:t>SR-ATM</a:t>
            </a:r>
            <a:endParaRPr lang="en-US" sz="1100" dirty="0"/>
          </a:p>
          <a:p>
            <a:pPr algn="r" indent="0" marL="0">
              <a:buNone/>
            </a:pPr>
            <a:r>
              <a:rPr lang="en-US" sz="1100" dirty="0">
                <a:solidFill>
                  <a:srgbClr val="2C3E50"/>
                </a:solidFill>
                <a:latin typeface="Calibri" pitchFamily="34" charset="0"/>
                <a:ea typeface="Calibri" pitchFamily="34" charset="-122"/>
                <a:cs typeface="Calibri" pitchFamily="34" charset="-120"/>
              </a:rPr>
              <a:t>a·max(RH, b·θe−c·θe*−d)³</a:t>
            </a:r>
            <a:endParaRPr lang="en-US" sz="1100" dirty="0"/>
          </a:p>
        </p:txBody>
      </p:sp>
      <p:sp>
        <p:nvSpPr>
          <p:cNvPr id="10" name="Shape 8"/>
          <p:cNvSpPr/>
          <p:nvPr/>
        </p:nvSpPr>
        <p:spPr>
          <a:xfrm>
            <a:off x="3017520" y="2578608"/>
            <a:ext cx="3590075" cy="356616"/>
          </a:xfrm>
          <a:prstGeom prst="roundRect">
            <a:avLst>
              <a:gd name="adj" fmla="val 15385"/>
            </a:avLst>
          </a:prstGeom>
          <a:solidFill>
            <a:srgbClr val="FB992E"/>
          </a:solidFill>
          <a:ln/>
        </p:spPr>
      </p:sp>
      <p:sp>
        <p:nvSpPr>
          <p:cNvPr id="11" name="Text 9"/>
          <p:cNvSpPr txBox="1"/>
          <p:nvPr/>
        </p:nvSpPr>
        <p:spPr>
          <a:xfrm>
            <a:off x="6744755" y="2505456"/>
            <a:ext cx="914400" cy="502920"/>
          </a:xfrm>
          <a:prstGeom prst="rect">
            <a:avLst/>
          </a:prstGeom>
          <a:noFill/>
          <a:ln/>
        </p:spPr>
        <p:txBody>
          <a:bodyPr wrap="square" lIns="0" tIns="0" rIns="0" bIns="0" rtlCol="0" anchor="ctr"/>
          <a:lstStyle/>
          <a:p>
            <a:pPr indent="0" marL="0">
              <a:buNone/>
            </a:pPr>
            <a:r>
              <a:rPr lang="en-US" sz="1200" b="1" dirty="0">
                <a:solidFill>
                  <a:srgbClr val="2C3E50"/>
                </a:solidFill>
                <a:latin typeface="Calibri" pitchFamily="34" charset="0"/>
                <a:ea typeface="Calibri" pitchFamily="34" charset="-122"/>
                <a:cs typeface="Calibri" pitchFamily="34" charset="-120"/>
              </a:rPr>
              <a:t>R² = 0.44</a:t>
            </a:r>
            <a:endParaRPr lang="en-US" sz="1200" dirty="0"/>
          </a:p>
        </p:txBody>
      </p:sp>
      <p:sp>
        <p:nvSpPr>
          <p:cNvPr id="12" name="Text 10"/>
          <p:cNvSpPr txBox="1"/>
          <p:nvPr/>
        </p:nvSpPr>
        <p:spPr>
          <a:xfrm>
            <a:off x="274320" y="3118104"/>
            <a:ext cx="2560320" cy="502920"/>
          </a:xfrm>
          <a:prstGeom prst="rect">
            <a:avLst/>
          </a:prstGeom>
          <a:noFill/>
          <a:ln/>
        </p:spPr>
        <p:txBody>
          <a:bodyPr wrap="square" lIns="0" tIns="0" rIns="0" bIns="0" rtlCol="0" anchor="ctr"/>
          <a:lstStyle/>
          <a:p>
            <a:pPr algn="r" indent="0" marL="0">
              <a:buNone/>
            </a:pPr>
            <a:r>
              <a:rPr lang="en-US" sz="1100" dirty="0">
                <a:solidFill>
                  <a:srgbClr val="2C3E50"/>
                </a:solidFill>
                <a:latin typeface="Calibri" pitchFamily="34" charset="0"/>
                <a:ea typeface="Calibri" pitchFamily="34" charset="-122"/>
                <a:cs typeface="Calibri" pitchFamily="34" charset="-120"/>
              </a:rPr>
              <a:t>SR-ALL</a:t>
            </a:r>
            <a:endParaRPr lang="en-US" sz="1100" dirty="0"/>
          </a:p>
          <a:p>
            <a:pPr algn="r" indent="0" marL="0">
              <a:buNone/>
            </a:pPr>
            <a:r>
              <a:rPr lang="en-US" sz="1100" dirty="0">
                <a:solidFill>
                  <a:srgbClr val="2C3E50"/>
                </a:solidFill>
                <a:latin typeface="Calibri" pitchFamily="34" charset="0"/>
                <a:ea typeface="Calibri" pitchFamily="34" charset="-122"/>
                <a:cs typeface="Calibri" pitchFamily="34" charset="-120"/>
              </a:rPr>
              <a:t>full equation</a:t>
            </a:r>
            <a:endParaRPr lang="en-US" sz="1100" dirty="0"/>
          </a:p>
        </p:txBody>
      </p:sp>
      <p:sp>
        <p:nvSpPr>
          <p:cNvPr id="13" name="Shape 11"/>
          <p:cNvSpPr/>
          <p:nvPr/>
        </p:nvSpPr>
        <p:spPr>
          <a:xfrm>
            <a:off x="3017520" y="3191256"/>
            <a:ext cx="3998038" cy="356616"/>
          </a:xfrm>
          <a:prstGeom prst="roundRect">
            <a:avLst>
              <a:gd name="adj" fmla="val 15385"/>
            </a:avLst>
          </a:prstGeom>
          <a:solidFill>
            <a:srgbClr val="8B6FB0"/>
          </a:solidFill>
          <a:ln/>
        </p:spPr>
      </p:sp>
      <p:sp>
        <p:nvSpPr>
          <p:cNvPr id="14" name="Text 12"/>
          <p:cNvSpPr txBox="1"/>
          <p:nvPr/>
        </p:nvSpPr>
        <p:spPr>
          <a:xfrm>
            <a:off x="7152718" y="3118104"/>
            <a:ext cx="914400" cy="502920"/>
          </a:xfrm>
          <a:prstGeom prst="rect">
            <a:avLst/>
          </a:prstGeom>
          <a:noFill/>
          <a:ln/>
        </p:spPr>
        <p:txBody>
          <a:bodyPr wrap="square" lIns="0" tIns="0" rIns="0" bIns="0" rtlCol="0" anchor="ctr"/>
          <a:lstStyle/>
          <a:p>
            <a:pPr indent="0" marL="0">
              <a:buNone/>
            </a:pPr>
            <a:r>
              <a:rPr lang="en-US" sz="1200" b="1" dirty="0">
                <a:solidFill>
                  <a:srgbClr val="2C3E50"/>
                </a:solidFill>
                <a:latin typeface="Calibri" pitchFamily="34" charset="0"/>
                <a:ea typeface="Calibri" pitchFamily="34" charset="-122"/>
                <a:cs typeface="Calibri" pitchFamily="34" charset="-120"/>
              </a:rPr>
              <a:t>R² = 0.49</a:t>
            </a:r>
            <a:endParaRPr lang="en-US" sz="1200" dirty="0"/>
          </a:p>
        </p:txBody>
      </p:sp>
      <p:sp>
        <p:nvSpPr>
          <p:cNvPr id="15" name="Text 13"/>
          <p:cNvSpPr txBox="1"/>
          <p:nvPr/>
        </p:nvSpPr>
        <p:spPr>
          <a:xfrm>
            <a:off x="274320" y="3730752"/>
            <a:ext cx="2560320" cy="502920"/>
          </a:xfrm>
          <a:prstGeom prst="rect">
            <a:avLst/>
          </a:prstGeom>
          <a:noFill/>
          <a:ln/>
        </p:spPr>
        <p:txBody>
          <a:bodyPr wrap="square" lIns="0" tIns="0" rIns="0" bIns="0" rtlCol="0" anchor="ctr"/>
          <a:lstStyle/>
          <a:p>
            <a:pPr algn="r" indent="0" marL="0">
              <a:buNone/>
            </a:pPr>
            <a:r>
              <a:rPr lang="en-US" sz="1100" dirty="0">
                <a:solidFill>
                  <a:srgbClr val="2C3E50"/>
                </a:solidFill>
                <a:latin typeface="Calibri" pitchFamily="34" charset="0"/>
                <a:ea typeface="Calibri" pitchFamily="34" charset="-122"/>
                <a:cs typeface="Calibri" pitchFamily="34" charset="-120"/>
              </a:rPr>
              <a:t>NN-GAUSS</a:t>
            </a:r>
            <a:endParaRPr lang="en-US" sz="1100" dirty="0"/>
          </a:p>
          <a:p>
            <a:pPr algn="r" indent="0" marL="0">
              <a:buNone/>
            </a:pPr>
            <a:r>
              <a:rPr lang="en-US" sz="1100" dirty="0">
                <a:solidFill>
                  <a:srgbClr val="2C3E50"/>
                </a:solidFill>
                <a:latin typeface="Calibri" pitchFamily="34" charset="0"/>
                <a:ea typeface="Calibri" pitchFamily="34" charset="-122"/>
                <a:cs typeface="Calibri" pitchFamily="34" charset="-120"/>
              </a:rPr>
              <a:t>kernel NN</a:t>
            </a:r>
            <a:endParaRPr lang="en-US" sz="1100" dirty="0"/>
          </a:p>
        </p:txBody>
      </p:sp>
      <p:sp>
        <p:nvSpPr>
          <p:cNvPr id="16" name="Shape 14"/>
          <p:cNvSpPr/>
          <p:nvPr/>
        </p:nvSpPr>
        <p:spPr>
          <a:xfrm>
            <a:off x="3017520" y="3803904"/>
            <a:ext cx="4242816" cy="356616"/>
          </a:xfrm>
          <a:prstGeom prst="roundRect">
            <a:avLst>
              <a:gd name="adj" fmla="val 15385"/>
            </a:avLst>
          </a:prstGeom>
          <a:solidFill>
            <a:srgbClr val="2355A1"/>
          </a:solidFill>
          <a:ln/>
        </p:spPr>
      </p:sp>
      <p:sp>
        <p:nvSpPr>
          <p:cNvPr id="17" name="Text 15"/>
          <p:cNvSpPr txBox="1"/>
          <p:nvPr/>
        </p:nvSpPr>
        <p:spPr>
          <a:xfrm>
            <a:off x="7397496" y="3730752"/>
            <a:ext cx="914400" cy="502920"/>
          </a:xfrm>
          <a:prstGeom prst="rect">
            <a:avLst/>
          </a:prstGeom>
          <a:noFill/>
          <a:ln/>
        </p:spPr>
        <p:txBody>
          <a:bodyPr wrap="square" lIns="0" tIns="0" rIns="0" bIns="0" rtlCol="0" anchor="ctr"/>
          <a:lstStyle/>
          <a:p>
            <a:pPr indent="0" marL="0">
              <a:buNone/>
            </a:pPr>
            <a:r>
              <a:rPr lang="en-US" sz="1200" b="1" dirty="0">
                <a:solidFill>
                  <a:srgbClr val="2C3E50"/>
                </a:solidFill>
                <a:latin typeface="Calibri" pitchFamily="34" charset="0"/>
                <a:ea typeface="Calibri" pitchFamily="34" charset="-122"/>
                <a:cs typeface="Calibri" pitchFamily="34" charset="-120"/>
              </a:rPr>
              <a:t>R² = 0.52</a:t>
            </a:r>
            <a:endParaRPr lang="en-US" sz="1200" dirty="0"/>
          </a:p>
        </p:txBody>
      </p:sp>
      <p:sp>
        <p:nvSpPr>
          <p:cNvPr id="18" name="Text 16"/>
          <p:cNvSpPr txBox="1"/>
          <p:nvPr/>
        </p:nvSpPr>
        <p:spPr>
          <a:xfrm>
            <a:off x="274320" y="4343400"/>
            <a:ext cx="2560320" cy="502920"/>
          </a:xfrm>
          <a:prstGeom prst="rect">
            <a:avLst/>
          </a:prstGeom>
          <a:noFill/>
          <a:ln/>
        </p:spPr>
        <p:txBody>
          <a:bodyPr wrap="square" lIns="0" tIns="0" rIns="0" bIns="0" rtlCol="0" anchor="ctr"/>
          <a:lstStyle/>
          <a:p>
            <a:pPr algn="r" indent="0" marL="0">
              <a:buNone/>
            </a:pPr>
            <a:r>
              <a:rPr lang="en-US" sz="1100" dirty="0">
                <a:solidFill>
                  <a:srgbClr val="2C3E50"/>
                </a:solidFill>
                <a:latin typeface="Calibri" pitchFamily="34" charset="0"/>
                <a:ea typeface="Calibri" pitchFamily="34" charset="-122"/>
                <a:cs typeface="Calibri" pitchFamily="34" charset="-120"/>
              </a:rPr>
              <a:t>NN-FULL</a:t>
            </a:r>
            <a:endParaRPr lang="en-US" sz="1100" dirty="0"/>
          </a:p>
          <a:p>
            <a:pPr algn="r" indent="0" marL="0">
              <a:buNone/>
            </a:pPr>
            <a:r>
              <a:rPr lang="en-US" sz="1100" dirty="0">
                <a:solidFill>
                  <a:srgbClr val="2C3E50"/>
                </a:solidFill>
                <a:latin typeface="Calibri" pitchFamily="34" charset="0"/>
                <a:ea typeface="Calibri" pitchFamily="34" charset="-122"/>
                <a:cs typeface="Calibri" pitchFamily="34" charset="-120"/>
              </a:rPr>
              <a:t>full-profile NN</a:t>
            </a:r>
            <a:endParaRPr lang="en-US" sz="1100" dirty="0"/>
          </a:p>
        </p:txBody>
      </p:sp>
      <p:sp>
        <p:nvSpPr>
          <p:cNvPr id="19" name="Shape 17"/>
          <p:cNvSpPr/>
          <p:nvPr/>
        </p:nvSpPr>
        <p:spPr>
          <a:xfrm>
            <a:off x="3017520" y="4416552"/>
            <a:ext cx="4895557" cy="356616"/>
          </a:xfrm>
          <a:prstGeom prst="roundRect">
            <a:avLst>
              <a:gd name="adj" fmla="val 15385"/>
            </a:avLst>
          </a:prstGeom>
          <a:solidFill>
            <a:srgbClr val="1B2C61"/>
          </a:solidFill>
          <a:ln/>
        </p:spPr>
      </p:sp>
      <p:sp>
        <p:nvSpPr>
          <p:cNvPr id="20" name="Text 18"/>
          <p:cNvSpPr txBox="1"/>
          <p:nvPr/>
        </p:nvSpPr>
        <p:spPr>
          <a:xfrm>
            <a:off x="8050237" y="4343400"/>
            <a:ext cx="914400" cy="502920"/>
          </a:xfrm>
          <a:prstGeom prst="rect">
            <a:avLst/>
          </a:prstGeom>
          <a:noFill/>
          <a:ln/>
        </p:spPr>
        <p:txBody>
          <a:bodyPr wrap="square" lIns="0" tIns="0" rIns="0" bIns="0" rtlCol="0" anchor="ctr"/>
          <a:lstStyle/>
          <a:p>
            <a:pPr indent="0" marL="0">
              <a:buNone/>
            </a:pPr>
            <a:r>
              <a:rPr lang="en-US" sz="1200" b="1" dirty="0">
                <a:solidFill>
                  <a:srgbClr val="2C3E50"/>
                </a:solidFill>
                <a:latin typeface="Calibri" pitchFamily="34" charset="0"/>
                <a:ea typeface="Calibri" pitchFamily="34" charset="-122"/>
                <a:cs typeface="Calibri" pitchFamily="34" charset="-120"/>
              </a:rPr>
              <a:t>R² = 0.60</a:t>
            </a:r>
            <a:endParaRPr lang="en-US" sz="1200" dirty="0"/>
          </a:p>
        </p:txBody>
      </p:sp>
      <p:sp>
        <p:nvSpPr>
          <p:cNvPr id="21" name="Text 19"/>
          <p:cNvSpPr txBox="1"/>
          <p:nvPr/>
        </p:nvSpPr>
        <p:spPr>
          <a:xfrm>
            <a:off x="1371600" y="4572000"/>
            <a:ext cx="6400800" cy="365760"/>
          </a:xfrm>
          <a:prstGeom prst="rect">
            <a:avLst/>
          </a:prstGeom>
          <a:noFill/>
          <a:ln/>
        </p:spPr>
        <p:txBody>
          <a:bodyPr wrap="square" lIns="0" tIns="0" rIns="0" bIns="0" rtlCol="0" anchor="ctr"/>
          <a:lstStyle/>
          <a:p>
            <a:pPr algn="ctr" indent="0" marL="0">
              <a:buNone/>
            </a:pPr>
            <a:r>
              <a:rPr lang="en-US" sz="1400" b="1" i="1" dirty="0">
                <a:solidFill>
                  <a:srgbClr val="FB992E"/>
                </a:solidFill>
                <a:latin typeface="Calibri" pitchFamily="34" charset="0"/>
                <a:ea typeface="Calibri" pitchFamily="34" charset="-122"/>
                <a:cs typeface="Calibri" pitchFamily="34" charset="-120"/>
              </a:rPr>
              <a:t>SR-ATM captures ~75% of the neural network's skill with just 4 constants.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7863840" cy="548640"/>
          </a:xfrm>
          <a:prstGeom prst="rect">
            <a:avLst/>
          </a:prstGeom>
          <a:noFill/>
          <a:ln/>
        </p:spPr>
        <p:txBody>
          <a:bodyPr wrap="square" lIns="0" tIns="0" rIns="0" bIns="0" rtlCol="0" anchor="ctr"/>
          <a:lstStyle/>
          <a:p>
            <a:pPr indent="0" marL="0">
              <a:buNone/>
            </a:pPr>
            <a:r>
              <a:rPr lang="en-US" sz="2800" b="1" dirty="0">
                <a:solidFill>
                  <a:srgbClr val="1E2A3A"/>
                </a:solidFill>
                <a:latin typeface="Calibri" pitchFamily="34" charset="0"/>
                <a:ea typeface="Calibri" pitchFamily="34" charset="-122"/>
                <a:cs typeface="Calibri" pitchFamily="34" charset="-120"/>
              </a:rPr>
              <a:t>The optimized constants have physical meaning.</a:t>
            </a:r>
            <a:endParaRPr lang="en-US" sz="2800" dirty="0"/>
          </a:p>
        </p:txBody>
      </p:sp>
      <p:sp>
        <p:nvSpPr>
          <p:cNvPr id="3" name="Text 1"/>
          <p:cNvSpPr txBox="1"/>
          <p:nvPr/>
        </p:nvSpPr>
        <p:spPr>
          <a:xfrm>
            <a:off x="640080" y="1097280"/>
            <a:ext cx="7863840" cy="457200"/>
          </a:xfrm>
          <a:prstGeom prst="rect">
            <a:avLst/>
          </a:prstGeom>
          <a:noFill/>
          <a:ln/>
        </p:spPr>
        <p:txBody>
          <a:bodyPr wrap="square" lIns="0" tIns="0" rIns="0" bIns="0" rtlCol="0" anchor="ctr"/>
          <a:lstStyle/>
          <a:p>
            <a:pPr algn="ctr" indent="0" marL="0">
              <a:buNone/>
            </a:pPr>
            <a:r>
              <a:rPr lang="en-US" sz="1900" dirty="0">
                <a:solidFill>
                  <a:srgbClr val="FB992E"/>
                </a:solidFill>
                <a:latin typeface="Courier New" pitchFamily="34" charset="0"/>
                <a:ea typeface="Courier New" pitchFamily="34" charset="-122"/>
                <a:cs typeface="Courier New" pitchFamily="34" charset="-120"/>
              </a:rPr>
              <a:t>P  =  1.58 · ( max( RH,  1.0·θe − 1.47·θe* − 0.37 ) )³</a:t>
            </a:r>
            <a:endParaRPr lang="en-US" sz="1900" dirty="0"/>
          </a:p>
        </p:txBody>
      </p:sp>
      <p:sp>
        <p:nvSpPr>
          <p:cNvPr id="4" name="Shape 2"/>
          <p:cNvSpPr/>
          <p:nvPr/>
        </p:nvSpPr>
        <p:spPr>
          <a:xfrm>
            <a:off x="640080" y="1828800"/>
            <a:ext cx="1645920" cy="548640"/>
          </a:xfrm>
          <a:prstGeom prst="roundRect">
            <a:avLst>
              <a:gd name="adj" fmla="val 13333"/>
            </a:avLst>
          </a:prstGeom>
          <a:solidFill>
            <a:srgbClr val="ECF0F1"/>
          </a:solidFill>
          <a:ln/>
        </p:spPr>
      </p:sp>
      <p:sp>
        <p:nvSpPr>
          <p:cNvPr id="5" name="Text 3"/>
          <p:cNvSpPr txBox="1"/>
          <p:nvPr/>
        </p:nvSpPr>
        <p:spPr>
          <a:xfrm>
            <a:off x="640080" y="1828800"/>
            <a:ext cx="1645920" cy="548640"/>
          </a:xfrm>
          <a:prstGeom prst="rect">
            <a:avLst/>
          </a:prstGeom>
          <a:noFill/>
          <a:ln/>
        </p:spPr>
        <p:txBody>
          <a:bodyPr wrap="square" lIns="0" tIns="0" rIns="0" bIns="0" rtlCol="0" anchor="ctr"/>
          <a:lstStyle/>
          <a:p>
            <a:pPr algn="ctr" indent="0" marL="0">
              <a:buNone/>
            </a:pPr>
            <a:r>
              <a:rPr lang="en-US" sz="1600" b="1" dirty="0">
                <a:solidFill>
                  <a:srgbClr val="2C3E50"/>
                </a:solidFill>
                <a:latin typeface="Courier New" pitchFamily="34" charset="0"/>
                <a:ea typeface="Courier New" pitchFamily="34" charset="-122"/>
                <a:cs typeface="Courier New" pitchFamily="34" charset="-120"/>
              </a:rPr>
              <a:t>a = 1.58</a:t>
            </a:r>
            <a:endParaRPr lang="en-US" sz="1600" dirty="0"/>
          </a:p>
        </p:txBody>
      </p:sp>
      <p:sp>
        <p:nvSpPr>
          <p:cNvPr id="6" name="Text 4"/>
          <p:cNvSpPr txBox="1"/>
          <p:nvPr/>
        </p:nvSpPr>
        <p:spPr>
          <a:xfrm>
            <a:off x="2468880" y="1828800"/>
            <a:ext cx="6035040" cy="548640"/>
          </a:xfrm>
          <a:prstGeom prst="rect">
            <a:avLst/>
          </a:prstGeom>
          <a:noFill/>
          <a:ln/>
        </p:spPr>
        <p:txBody>
          <a:bodyPr wrap="square" lIns="0" tIns="0" rIns="0" bIns="0" rtlCol="0" anchor="ctr"/>
          <a:lstStyle/>
          <a:p>
            <a:pPr indent="0" marL="0">
              <a:buNone/>
            </a:pPr>
            <a:r>
              <a:rPr lang="en-US" sz="1400" dirty="0">
                <a:solidFill>
                  <a:srgbClr val="2C3E50"/>
                </a:solidFill>
                <a:latin typeface="Calibri" pitchFamily="34" charset="0"/>
                <a:ea typeface="Calibri" pitchFamily="34" charset="-122"/>
                <a:cs typeface="Calibri" pitchFamily="34" charset="-120"/>
              </a:rPr>
              <a:t>Overall scaling: amplifies the cubed term to match rainfall magnitude</a:t>
            </a:r>
            <a:endParaRPr lang="en-US" sz="1400" dirty="0"/>
          </a:p>
        </p:txBody>
      </p:sp>
      <p:sp>
        <p:nvSpPr>
          <p:cNvPr id="7" name="Shape 5"/>
          <p:cNvSpPr/>
          <p:nvPr/>
        </p:nvSpPr>
        <p:spPr>
          <a:xfrm>
            <a:off x="640080" y="2468880"/>
            <a:ext cx="1645920" cy="548640"/>
          </a:xfrm>
          <a:prstGeom prst="roundRect">
            <a:avLst>
              <a:gd name="adj" fmla="val 13333"/>
            </a:avLst>
          </a:prstGeom>
          <a:solidFill>
            <a:srgbClr val="ECF0F1"/>
          </a:solidFill>
          <a:ln/>
        </p:spPr>
      </p:sp>
      <p:sp>
        <p:nvSpPr>
          <p:cNvPr id="8" name="Text 6"/>
          <p:cNvSpPr txBox="1"/>
          <p:nvPr/>
        </p:nvSpPr>
        <p:spPr>
          <a:xfrm>
            <a:off x="640080" y="2468880"/>
            <a:ext cx="1645920" cy="548640"/>
          </a:xfrm>
          <a:prstGeom prst="rect">
            <a:avLst/>
          </a:prstGeom>
          <a:noFill/>
          <a:ln/>
        </p:spPr>
        <p:txBody>
          <a:bodyPr wrap="square" lIns="0" tIns="0" rIns="0" bIns="0" rtlCol="0" anchor="ctr"/>
          <a:lstStyle/>
          <a:p>
            <a:pPr algn="ctr" indent="0" marL="0">
              <a:buNone/>
            </a:pPr>
            <a:r>
              <a:rPr lang="en-US" sz="1600" b="1" dirty="0">
                <a:solidFill>
                  <a:srgbClr val="2C3E50"/>
                </a:solidFill>
                <a:latin typeface="Courier New" pitchFamily="34" charset="0"/>
                <a:ea typeface="Courier New" pitchFamily="34" charset="-122"/>
                <a:cs typeface="Courier New" pitchFamily="34" charset="-120"/>
              </a:rPr>
              <a:t>b = 1.0</a:t>
            </a:r>
            <a:endParaRPr lang="en-US" sz="1600" dirty="0"/>
          </a:p>
        </p:txBody>
      </p:sp>
      <p:sp>
        <p:nvSpPr>
          <p:cNvPr id="9" name="Text 7"/>
          <p:cNvSpPr txBox="1"/>
          <p:nvPr/>
        </p:nvSpPr>
        <p:spPr>
          <a:xfrm>
            <a:off x="2468880" y="2468880"/>
            <a:ext cx="6035040" cy="548640"/>
          </a:xfrm>
          <a:prstGeom prst="rect">
            <a:avLst/>
          </a:prstGeom>
          <a:noFill/>
          <a:ln/>
        </p:spPr>
        <p:txBody>
          <a:bodyPr wrap="square" lIns="0" tIns="0" rIns="0" bIns="0" rtlCol="0" anchor="ctr"/>
          <a:lstStyle/>
          <a:p>
            <a:pPr indent="0" marL="0">
              <a:buNone/>
            </a:pPr>
            <a:r>
              <a:rPr lang="en-US" sz="1400" dirty="0">
                <a:solidFill>
                  <a:srgbClr val="2C3E50"/>
                </a:solidFill>
                <a:latin typeface="Calibri" pitchFamily="34" charset="0"/>
                <a:ea typeface="Calibri" pitchFamily="34" charset="-122"/>
                <a:cs typeface="Calibri" pitchFamily="34" charset="-120"/>
              </a:rPr>
              <a:t>θe enters with unit coefficient — its natural normalized scale is already optimal</a:t>
            </a:r>
            <a:endParaRPr lang="en-US" sz="1400" dirty="0"/>
          </a:p>
        </p:txBody>
      </p:sp>
      <p:sp>
        <p:nvSpPr>
          <p:cNvPr id="10" name="Shape 8"/>
          <p:cNvSpPr/>
          <p:nvPr/>
        </p:nvSpPr>
        <p:spPr>
          <a:xfrm>
            <a:off x="640080" y="3108960"/>
            <a:ext cx="1645920" cy="548640"/>
          </a:xfrm>
          <a:prstGeom prst="roundRect">
            <a:avLst>
              <a:gd name="adj" fmla="val 13333"/>
            </a:avLst>
          </a:prstGeom>
          <a:solidFill>
            <a:srgbClr val="ECF0F1"/>
          </a:solidFill>
          <a:ln/>
        </p:spPr>
      </p:sp>
      <p:sp>
        <p:nvSpPr>
          <p:cNvPr id="11" name="Text 9"/>
          <p:cNvSpPr txBox="1"/>
          <p:nvPr/>
        </p:nvSpPr>
        <p:spPr>
          <a:xfrm>
            <a:off x="640080" y="3108960"/>
            <a:ext cx="1645920" cy="548640"/>
          </a:xfrm>
          <a:prstGeom prst="rect">
            <a:avLst/>
          </a:prstGeom>
          <a:noFill/>
          <a:ln/>
        </p:spPr>
        <p:txBody>
          <a:bodyPr wrap="square" lIns="0" tIns="0" rIns="0" bIns="0" rtlCol="0" anchor="ctr"/>
          <a:lstStyle/>
          <a:p>
            <a:pPr algn="ctr" indent="0" marL="0">
              <a:buNone/>
            </a:pPr>
            <a:r>
              <a:rPr lang="en-US" sz="1600" b="1" dirty="0">
                <a:solidFill>
                  <a:srgbClr val="2C3E50"/>
                </a:solidFill>
                <a:latin typeface="Courier New" pitchFamily="34" charset="0"/>
                <a:ea typeface="Courier New" pitchFamily="34" charset="-122"/>
                <a:cs typeface="Courier New" pitchFamily="34" charset="-120"/>
              </a:rPr>
              <a:t>c = 1.47</a:t>
            </a:r>
            <a:endParaRPr lang="en-US" sz="1600" dirty="0"/>
          </a:p>
        </p:txBody>
      </p:sp>
      <p:sp>
        <p:nvSpPr>
          <p:cNvPr id="12" name="Text 10"/>
          <p:cNvSpPr txBox="1"/>
          <p:nvPr/>
        </p:nvSpPr>
        <p:spPr>
          <a:xfrm>
            <a:off x="2468880" y="3108960"/>
            <a:ext cx="6035040" cy="548640"/>
          </a:xfrm>
          <a:prstGeom prst="rect">
            <a:avLst/>
          </a:prstGeom>
          <a:noFill/>
          <a:ln/>
        </p:spPr>
        <p:txBody>
          <a:bodyPr wrap="square" lIns="0" tIns="0" rIns="0" bIns="0" rtlCol="0" anchor="ctr"/>
          <a:lstStyle/>
          <a:p>
            <a:pPr indent="0" marL="0">
              <a:buNone/>
            </a:pPr>
            <a:r>
              <a:rPr lang="en-US" sz="1400" dirty="0">
                <a:solidFill>
                  <a:srgbClr val="2C3E50"/>
                </a:solidFill>
                <a:latin typeface="Calibri" pitchFamily="34" charset="0"/>
                <a:ea typeface="Calibri" pitchFamily="34" charset="-122"/>
                <a:cs typeface="Calibri" pitchFamily="34" charset="-120"/>
              </a:rPr>
              <a:t>θe* is weighted ~50% more than θe, emphasizing the saturation environment</a:t>
            </a:r>
            <a:endParaRPr lang="en-US" sz="1400" dirty="0"/>
          </a:p>
        </p:txBody>
      </p:sp>
      <p:sp>
        <p:nvSpPr>
          <p:cNvPr id="13" name="Shape 11"/>
          <p:cNvSpPr/>
          <p:nvPr/>
        </p:nvSpPr>
        <p:spPr>
          <a:xfrm>
            <a:off x="640080" y="3749040"/>
            <a:ext cx="1645920" cy="548640"/>
          </a:xfrm>
          <a:prstGeom prst="roundRect">
            <a:avLst>
              <a:gd name="adj" fmla="val 13333"/>
            </a:avLst>
          </a:prstGeom>
          <a:solidFill>
            <a:srgbClr val="ECF0F1"/>
          </a:solidFill>
          <a:ln/>
        </p:spPr>
      </p:sp>
      <p:sp>
        <p:nvSpPr>
          <p:cNvPr id="14" name="Text 12"/>
          <p:cNvSpPr txBox="1"/>
          <p:nvPr/>
        </p:nvSpPr>
        <p:spPr>
          <a:xfrm>
            <a:off x="640080" y="3749040"/>
            <a:ext cx="1645920" cy="548640"/>
          </a:xfrm>
          <a:prstGeom prst="rect">
            <a:avLst/>
          </a:prstGeom>
          <a:noFill/>
          <a:ln/>
        </p:spPr>
        <p:txBody>
          <a:bodyPr wrap="square" lIns="0" tIns="0" rIns="0" bIns="0" rtlCol="0" anchor="ctr"/>
          <a:lstStyle/>
          <a:p>
            <a:pPr algn="ctr" indent="0" marL="0">
              <a:buNone/>
            </a:pPr>
            <a:r>
              <a:rPr lang="en-US" sz="1600" b="1" dirty="0">
                <a:solidFill>
                  <a:srgbClr val="2C3E50"/>
                </a:solidFill>
                <a:latin typeface="Courier New" pitchFamily="34" charset="0"/>
                <a:ea typeface="Courier New" pitchFamily="34" charset="-122"/>
                <a:cs typeface="Courier New" pitchFamily="34" charset="-120"/>
              </a:rPr>
              <a:t>d = 0.37</a:t>
            </a:r>
            <a:endParaRPr lang="en-US" sz="1600" dirty="0"/>
          </a:p>
        </p:txBody>
      </p:sp>
      <p:sp>
        <p:nvSpPr>
          <p:cNvPr id="15" name="Text 13"/>
          <p:cNvSpPr txBox="1"/>
          <p:nvPr/>
        </p:nvSpPr>
        <p:spPr>
          <a:xfrm>
            <a:off x="2468880" y="3749040"/>
            <a:ext cx="6035040" cy="548640"/>
          </a:xfrm>
          <a:prstGeom prst="rect">
            <a:avLst/>
          </a:prstGeom>
          <a:noFill/>
          <a:ln/>
        </p:spPr>
        <p:txBody>
          <a:bodyPr wrap="square" lIns="0" tIns="0" rIns="0" bIns="0" rtlCol="0" anchor="ctr"/>
          <a:lstStyle/>
          <a:p>
            <a:pPr indent="0" marL="0">
              <a:buNone/>
            </a:pPr>
            <a:r>
              <a:rPr lang="en-US" sz="1400" dirty="0">
                <a:solidFill>
                  <a:srgbClr val="2C3E50"/>
                </a:solidFill>
                <a:latin typeface="Calibri" pitchFamily="34" charset="0"/>
                <a:ea typeface="Calibri" pitchFamily="34" charset="-122"/>
                <a:cs typeface="Calibri" pitchFamily="34" charset="-120"/>
              </a:rPr>
              <a:t>Offset that sets the critical threshold for buoyancy-limited regime</a:t>
            </a:r>
            <a:endParaRPr lang="en-US" sz="1400" dirty="0"/>
          </a:p>
        </p:txBody>
      </p:sp>
      <p:sp>
        <p:nvSpPr>
          <p:cNvPr id="16" name="Shape 14"/>
          <p:cNvSpPr/>
          <p:nvPr/>
        </p:nvSpPr>
        <p:spPr>
          <a:xfrm>
            <a:off x="1371600" y="4434840"/>
            <a:ext cx="6400800" cy="548640"/>
          </a:xfrm>
          <a:prstGeom prst="roundRect">
            <a:avLst>
              <a:gd name="adj" fmla="val 16667"/>
            </a:avLst>
          </a:prstGeom>
          <a:solidFill>
            <a:srgbClr val="FFF3E6"/>
          </a:solidFill>
          <a:ln/>
        </p:spPr>
      </p:sp>
      <p:sp>
        <p:nvSpPr>
          <p:cNvPr id="17" name="Text 15"/>
          <p:cNvSpPr txBox="1"/>
          <p:nvPr/>
        </p:nvSpPr>
        <p:spPr>
          <a:xfrm>
            <a:off x="1554480" y="4434840"/>
            <a:ext cx="6035040" cy="548640"/>
          </a:xfrm>
          <a:prstGeom prst="rect">
            <a:avLst/>
          </a:prstGeom>
          <a:noFill/>
          <a:ln/>
        </p:spPr>
        <p:txBody>
          <a:bodyPr wrap="square" lIns="0" tIns="0" rIns="0" bIns="0" rtlCol="0" anchor="ctr"/>
          <a:lstStyle/>
          <a:p>
            <a:pPr algn="ctr" indent="0" marL="0">
              <a:buNone/>
            </a:pPr>
            <a:r>
              <a:rPr lang="en-US" sz="1300" b="1" dirty="0">
                <a:solidFill>
                  <a:srgbClr val="FB992E"/>
                </a:solidFill>
                <a:latin typeface="Calibri" pitchFamily="34" charset="0"/>
                <a:ea typeface="Calibri" pitchFamily="34" charset="-122"/>
                <a:cs typeface="Calibri" pitchFamily="34" charset="-120"/>
              </a:rPr>
              <a:t>c &gt; b means the equation weights the environmental saturation state</a:t>
            </a:r>
            <a:endParaRPr lang="en-US" sz="1300" dirty="0"/>
          </a:p>
          <a:p>
            <a:pPr algn="ctr" indent="0" marL="0">
              <a:buNone/>
            </a:pPr>
            <a:r>
              <a:rPr lang="en-US" sz="1300" b="1" dirty="0">
                <a:solidFill>
                  <a:srgbClr val="FB992E"/>
                </a:solidFill>
                <a:latin typeface="Calibri" pitchFamily="34" charset="0"/>
                <a:ea typeface="Calibri" pitchFamily="34" charset="-122"/>
                <a:cs typeface="Calibri" pitchFamily="34" charset="-120"/>
              </a:rPr>
              <a:t>more heavily than the boundary-layer energy — entrainment matters.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7863840" cy="548640"/>
          </a:xfrm>
          <a:prstGeom prst="rect">
            <a:avLst/>
          </a:prstGeom>
          <a:noFill/>
          <a:ln/>
        </p:spPr>
        <p:txBody>
          <a:bodyPr wrap="square" lIns="0" tIns="0" rIns="0" bIns="0" rtlCol="0" anchor="ctr"/>
          <a:lstStyle/>
          <a:p>
            <a:pPr indent="0" marL="0">
              <a:buNone/>
            </a:pPr>
            <a:r>
              <a:rPr lang="en-US" sz="2800" b="1" dirty="0">
                <a:solidFill>
                  <a:srgbClr val="1E2A3A"/>
                </a:solidFill>
                <a:latin typeface="Calibri" pitchFamily="34" charset="0"/>
                <a:ea typeface="Calibri" pitchFamily="34" charset="-122"/>
                <a:cs typeface="Calibri" pitchFamily="34" charset="-120"/>
              </a:rPr>
              <a:t>What the equations tell us about monsoon physics.</a:t>
            </a:r>
            <a:endParaRPr lang="en-US" sz="2800" dirty="0"/>
          </a:p>
        </p:txBody>
      </p:sp>
      <p:sp>
        <p:nvSpPr>
          <p:cNvPr id="3" name="Shape 1"/>
          <p:cNvSpPr/>
          <p:nvPr/>
        </p:nvSpPr>
        <p:spPr>
          <a:xfrm>
            <a:off x="822960" y="1325880"/>
            <a:ext cx="274320" cy="274320"/>
          </a:xfrm>
          <a:prstGeom prst="ellipse">
            <a:avLst/>
          </a:prstGeom>
          <a:solidFill>
            <a:srgbClr val="2980B9"/>
          </a:solidFill>
          <a:ln/>
        </p:spPr>
      </p:sp>
      <p:sp>
        <p:nvSpPr>
          <p:cNvPr id="4" name="Text 2"/>
          <p:cNvSpPr txBox="1"/>
          <p:nvPr/>
        </p:nvSpPr>
        <p:spPr>
          <a:xfrm>
            <a:off x="1280160" y="1188720"/>
            <a:ext cx="7315200" cy="32004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Dual regime control</a:t>
            </a:r>
            <a:endParaRPr lang="en-US" sz="1700" dirty="0"/>
          </a:p>
        </p:txBody>
      </p:sp>
      <p:sp>
        <p:nvSpPr>
          <p:cNvPr id="5" name="Text 3"/>
          <p:cNvSpPr txBox="1"/>
          <p:nvPr/>
        </p:nvSpPr>
        <p:spPr>
          <a:xfrm>
            <a:off x="1280160" y="1508760"/>
            <a:ext cx="7315200" cy="50292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Rainfall is limited by whichever of moisture or buoyancy is less favorable — the max() is a learned regime switch, not a prescribed one.</a:t>
            </a:r>
            <a:endParaRPr lang="en-US" sz="1300" dirty="0"/>
          </a:p>
        </p:txBody>
      </p:sp>
      <p:sp>
        <p:nvSpPr>
          <p:cNvPr id="6" name="Shape 4"/>
          <p:cNvSpPr/>
          <p:nvPr/>
        </p:nvSpPr>
        <p:spPr>
          <a:xfrm>
            <a:off x="822960" y="2240280"/>
            <a:ext cx="274320" cy="274320"/>
          </a:xfrm>
          <a:prstGeom prst="ellipse">
            <a:avLst/>
          </a:prstGeom>
          <a:solidFill>
            <a:srgbClr val="FB992E"/>
          </a:solidFill>
          <a:ln/>
        </p:spPr>
      </p:sp>
      <p:sp>
        <p:nvSpPr>
          <p:cNvPr id="7" name="Text 5"/>
          <p:cNvSpPr txBox="1"/>
          <p:nvPr/>
        </p:nvSpPr>
        <p:spPr>
          <a:xfrm>
            <a:off x="1280160" y="2103120"/>
            <a:ext cx="7315200" cy="32004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Entrainment dominance</a:t>
            </a:r>
            <a:endParaRPr lang="en-US" sz="1700" dirty="0"/>
          </a:p>
        </p:txBody>
      </p:sp>
      <p:sp>
        <p:nvSpPr>
          <p:cNvPr id="8" name="Text 6"/>
          <p:cNvSpPr txBox="1"/>
          <p:nvPr/>
        </p:nvSpPr>
        <p:spPr>
          <a:xfrm>
            <a:off x="1280160" y="2423160"/>
            <a:ext cx="7315200" cy="50292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The stronger weighting of θe* over θe (c &gt; b) means the environment the plume entrains matters more than the plume's initial energy.</a:t>
            </a:r>
            <a:endParaRPr lang="en-US" sz="1300" dirty="0"/>
          </a:p>
        </p:txBody>
      </p:sp>
      <p:sp>
        <p:nvSpPr>
          <p:cNvPr id="9" name="Shape 7"/>
          <p:cNvSpPr/>
          <p:nvPr/>
        </p:nvSpPr>
        <p:spPr>
          <a:xfrm>
            <a:off x="822960" y="3154680"/>
            <a:ext cx="274320" cy="274320"/>
          </a:xfrm>
          <a:prstGeom prst="ellipse">
            <a:avLst/>
          </a:prstGeom>
          <a:solidFill>
            <a:srgbClr val="C44E52"/>
          </a:solidFill>
          <a:ln/>
        </p:spPr>
      </p:sp>
      <p:sp>
        <p:nvSpPr>
          <p:cNvPr id="10" name="Text 8"/>
          <p:cNvSpPr txBox="1"/>
          <p:nvPr/>
        </p:nvSpPr>
        <p:spPr>
          <a:xfrm>
            <a:off x="1280160" y="3017520"/>
            <a:ext cx="7315200" cy="32004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Sharp onset nonlinearity</a:t>
            </a:r>
            <a:endParaRPr lang="en-US" sz="1700" dirty="0"/>
          </a:p>
        </p:txBody>
      </p:sp>
      <p:sp>
        <p:nvSpPr>
          <p:cNvPr id="11" name="Text 9"/>
          <p:cNvSpPr txBox="1"/>
          <p:nvPr/>
        </p:nvSpPr>
        <p:spPr>
          <a:xfrm>
            <a:off x="1280160" y="3337560"/>
            <a:ext cx="7315200" cy="50292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The cube captures the explosive nature of deep convection — small improvements in conditions lead to large rainfall increases.</a:t>
            </a:r>
            <a:endParaRPr lang="en-US" sz="1300" dirty="0"/>
          </a:p>
        </p:txBody>
      </p:sp>
      <p:sp>
        <p:nvSpPr>
          <p:cNvPr id="12" name="Shape 10"/>
          <p:cNvSpPr/>
          <p:nvPr/>
        </p:nvSpPr>
        <p:spPr>
          <a:xfrm>
            <a:off x="822960" y="4069080"/>
            <a:ext cx="274320" cy="274320"/>
          </a:xfrm>
          <a:prstGeom prst="ellipse">
            <a:avLst/>
          </a:prstGeom>
          <a:solidFill>
            <a:srgbClr val="8B6FB0"/>
          </a:solidFill>
          <a:ln/>
        </p:spPr>
      </p:sp>
      <p:sp>
        <p:nvSpPr>
          <p:cNvPr id="13" name="Text 11"/>
          <p:cNvSpPr txBox="1"/>
          <p:nvPr/>
        </p:nvSpPr>
        <p:spPr>
          <a:xfrm>
            <a:off x="1280160" y="3931920"/>
            <a:ext cx="7315200" cy="32004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Ocean-land asymmetry</a:t>
            </a:r>
            <a:endParaRPr lang="en-US" sz="1700" dirty="0"/>
          </a:p>
        </p:txBody>
      </p:sp>
      <p:sp>
        <p:nvSpPr>
          <p:cNvPr id="14" name="Text 12"/>
          <p:cNvSpPr txBox="1"/>
          <p:nvPr/>
        </p:nvSpPr>
        <p:spPr>
          <a:xfrm>
            <a:off x="1280160" y="4251960"/>
            <a:ext cx="7315200" cy="50292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Surface corrections distinguish oceanic (SST-driven) and continental convection — the equations discover this without being told about geography.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E2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B992E"/>
          </a:solidFill>
          <a:ln/>
        </p:spPr>
      </p:sp>
      <p:sp>
        <p:nvSpPr>
          <p:cNvPr id="3" name="Text 1"/>
          <p:cNvSpPr txBox="1"/>
          <p:nvPr/>
        </p:nvSpPr>
        <p:spPr>
          <a:xfrm>
            <a:off x="731520" y="457200"/>
            <a:ext cx="768096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4" name="Shape 2"/>
          <p:cNvSpPr/>
          <p:nvPr/>
        </p:nvSpPr>
        <p:spPr>
          <a:xfrm>
            <a:off x="731520" y="1325880"/>
            <a:ext cx="411480" cy="411480"/>
          </a:xfrm>
          <a:prstGeom prst="ellipse">
            <a:avLst/>
          </a:prstGeom>
          <a:solidFill>
            <a:srgbClr val="FB992E"/>
          </a:solidFill>
          <a:ln/>
        </p:spPr>
      </p:sp>
      <p:sp>
        <p:nvSpPr>
          <p:cNvPr id="5" name="Text 3"/>
          <p:cNvSpPr txBox="1"/>
          <p:nvPr/>
        </p:nvSpPr>
        <p:spPr>
          <a:xfrm>
            <a:off x="731520" y="132588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371600" y="1280160"/>
            <a:ext cx="704088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SR discovers interpretable structure</a:t>
            </a:r>
            <a:endParaRPr lang="en-US" sz="1800" dirty="0"/>
          </a:p>
        </p:txBody>
      </p:sp>
      <p:sp>
        <p:nvSpPr>
          <p:cNvPr id="7" name="Text 5"/>
          <p:cNvSpPr txBox="1"/>
          <p:nvPr/>
        </p:nvSpPr>
        <p:spPr>
          <a:xfrm>
            <a:off x="1371600" y="1645920"/>
            <a:ext cx="7040880" cy="548640"/>
          </a:xfrm>
          <a:prstGeom prst="rect">
            <a:avLst/>
          </a:prstGeom>
          <a:noFill/>
          <a:ln/>
        </p:spPr>
        <p:txBody>
          <a:bodyPr wrap="square" lIns="0" tIns="0" rIns="0" bIns="0" rtlCol="0" anchor="ctr"/>
          <a:lstStyle/>
          <a:p>
            <a:pPr indent="0" marL="0">
              <a:buNone/>
            </a:pPr>
            <a:r>
              <a:rPr lang="en-US" sz="1400" dirty="0">
                <a:solidFill>
                  <a:srgbClr val="BDC3C7"/>
                </a:solidFill>
                <a:latin typeface="Calibri" pitchFamily="34" charset="0"/>
                <a:ea typeface="Calibri" pitchFamily="34" charset="-122"/>
                <a:cs typeface="Calibri" pitchFamily="34" charset="-120"/>
              </a:rPr>
              <a:t>The functional form — max(), cube, which variables combine — is learned from data, not prescribed.</a:t>
            </a:r>
            <a:endParaRPr lang="en-US" sz="1400" dirty="0"/>
          </a:p>
        </p:txBody>
      </p:sp>
      <p:sp>
        <p:nvSpPr>
          <p:cNvPr id="8" name="Shape 6"/>
          <p:cNvSpPr/>
          <p:nvPr/>
        </p:nvSpPr>
        <p:spPr>
          <a:xfrm>
            <a:off x="731520" y="2423160"/>
            <a:ext cx="411480" cy="411480"/>
          </a:xfrm>
          <a:prstGeom prst="ellipse">
            <a:avLst/>
          </a:prstGeom>
          <a:solidFill>
            <a:srgbClr val="FB992E"/>
          </a:solidFill>
          <a:ln/>
        </p:spPr>
      </p:sp>
      <p:sp>
        <p:nvSpPr>
          <p:cNvPr id="9" name="Text 7"/>
          <p:cNvSpPr txBox="1"/>
          <p:nvPr/>
        </p:nvSpPr>
        <p:spPr>
          <a:xfrm>
            <a:off x="731520" y="242316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371600" y="2377440"/>
            <a:ext cx="704088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Compact equations carry physical insight</a:t>
            </a:r>
            <a:endParaRPr lang="en-US" sz="1800" dirty="0"/>
          </a:p>
        </p:txBody>
      </p:sp>
      <p:sp>
        <p:nvSpPr>
          <p:cNvPr id="11" name="Text 9"/>
          <p:cNvSpPr txBox="1"/>
          <p:nvPr/>
        </p:nvSpPr>
        <p:spPr>
          <a:xfrm>
            <a:off x="1371600" y="2743200"/>
            <a:ext cx="7040880" cy="548640"/>
          </a:xfrm>
          <a:prstGeom prst="rect">
            <a:avLst/>
          </a:prstGeom>
          <a:noFill/>
          <a:ln/>
        </p:spPr>
        <p:txBody>
          <a:bodyPr wrap="square" lIns="0" tIns="0" rIns="0" bIns="0" rtlCol="0" anchor="ctr"/>
          <a:lstStyle/>
          <a:p>
            <a:pPr indent="0" marL="0">
              <a:buNone/>
            </a:pPr>
            <a:r>
              <a:rPr lang="en-US" sz="1400" dirty="0">
                <a:solidFill>
                  <a:srgbClr val="BDC3C7"/>
                </a:solidFill>
                <a:latin typeface="Calibri" pitchFamily="34" charset="0"/>
                <a:ea typeface="Calibri" pitchFamily="34" charset="-122"/>
                <a:cs typeface="Calibri" pitchFamily="34" charset="-120"/>
              </a:rPr>
              <a:t>Four constants and one equation explain 75% of the neural network's skill while revealing regime-switching and entrainment dominance.</a:t>
            </a:r>
            <a:endParaRPr lang="en-US" sz="1400" dirty="0"/>
          </a:p>
        </p:txBody>
      </p:sp>
      <p:sp>
        <p:nvSpPr>
          <p:cNvPr id="12" name="Shape 10"/>
          <p:cNvSpPr/>
          <p:nvPr/>
        </p:nvSpPr>
        <p:spPr>
          <a:xfrm>
            <a:off x="731520" y="3520440"/>
            <a:ext cx="411480" cy="411480"/>
          </a:xfrm>
          <a:prstGeom prst="ellipse">
            <a:avLst/>
          </a:prstGeom>
          <a:solidFill>
            <a:srgbClr val="FB992E"/>
          </a:solidFill>
          <a:ln/>
        </p:spPr>
      </p:sp>
      <p:sp>
        <p:nvSpPr>
          <p:cNvPr id="13" name="Text 11"/>
          <p:cNvSpPr txBox="1"/>
          <p:nvPr/>
        </p:nvSpPr>
        <p:spPr>
          <a:xfrm>
            <a:off x="731520" y="352044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371600" y="3474720"/>
            <a:ext cx="704088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ML as a tool for physical discovery</a:t>
            </a:r>
            <a:endParaRPr lang="en-US" sz="1800" dirty="0"/>
          </a:p>
        </p:txBody>
      </p:sp>
      <p:sp>
        <p:nvSpPr>
          <p:cNvPr id="15" name="Text 13"/>
          <p:cNvSpPr txBox="1"/>
          <p:nvPr/>
        </p:nvSpPr>
        <p:spPr>
          <a:xfrm>
            <a:off x="1371600" y="3840480"/>
            <a:ext cx="7040880" cy="548640"/>
          </a:xfrm>
          <a:prstGeom prst="rect">
            <a:avLst/>
          </a:prstGeom>
          <a:noFill/>
          <a:ln/>
        </p:spPr>
        <p:txBody>
          <a:bodyPr wrap="square" lIns="0" tIns="0" rIns="0" bIns="0" rtlCol="0" anchor="ctr"/>
          <a:lstStyle/>
          <a:p>
            <a:pPr indent="0" marL="0">
              <a:buNone/>
            </a:pPr>
            <a:r>
              <a:rPr lang="en-US" sz="1400" dirty="0">
                <a:solidFill>
                  <a:srgbClr val="BDC3C7"/>
                </a:solidFill>
                <a:latin typeface="Calibri" pitchFamily="34" charset="0"/>
                <a:ea typeface="Calibri" pitchFamily="34" charset="-122"/>
                <a:cs typeface="Calibri" pitchFamily="34" charset="-120"/>
              </a:rPr>
              <a:t>The goal isn't to replace physics-based models — it's to use data to identify the relationships that matter most.</a:t>
            </a:r>
            <a:endParaRPr lang="en-US" sz="1400" dirty="0"/>
          </a:p>
        </p:txBody>
      </p:sp>
      <p:sp>
        <p:nvSpPr>
          <p:cNvPr id="16" name="Text 14"/>
          <p:cNvSpPr txBox="1"/>
          <p:nvPr/>
        </p:nvSpPr>
        <p:spPr>
          <a:xfrm>
            <a:off x="731520" y="4343400"/>
            <a:ext cx="3657600" cy="731520"/>
          </a:xfrm>
          <a:prstGeom prst="rect">
            <a:avLst/>
          </a:prstGeom>
          <a:noFill/>
          <a:ln/>
        </p:spPr>
        <p:txBody>
          <a:bodyPr wrap="square" lIns="0" tIns="0" rIns="0" bIns="0" rtlCol="0" anchor="b"/>
          <a:lstStyle/>
          <a:p>
            <a:pPr indent="0" marL="0">
              <a:spcAft>
                <a:spcPts val="400"/>
              </a:spcAft>
              <a:buNone/>
            </a:pPr>
            <a:r>
              <a:rPr lang="en-US" sz="1400" b="1" dirty="0">
                <a:solidFill>
                  <a:srgbClr val="FB992E"/>
                </a:solidFill>
              </a:rPr>
              <a:t>Savannah L. Ferretti</a:t>
            </a:r>
            <a:endParaRPr lang="en-US" sz="1400" dirty="0"/>
          </a:p>
          <a:p>
            <a:pPr indent="0" marL="0">
              <a:buNone/>
            </a:pPr>
            <a:r>
              <a:rPr lang="en-US" sz="1200" dirty="0">
                <a:solidFill>
                  <a:srgbClr val="BDC3C7"/>
                </a:solidFill>
              </a:rPr>
              <a:t>savannah.ferretti@uci.edu</a:t>
            </a:r>
            <a:endParaRPr lang="en-US" sz="1400" dirty="0"/>
          </a:p>
          <a:p>
            <a:pPr indent="0" marL="0">
              <a:buNone/>
            </a:pPr>
            <a:r>
              <a:rPr lang="en-US" sz="1200" dirty="0">
                <a:solidFill>
                  <a:srgbClr val="BDC3C7"/>
                </a:solidFill>
              </a:rPr>
              <a:t>@savannahferretti.bsky.social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Discovering Interpretable Rainfall Equations</dc:title>
  <dc:subject>PptxGenJS Presentation</dc:subject>
  <dc:creator>Savannah L. Ferretti</dc:creator>
  <cp:lastModifiedBy>Savannah L. Ferretti</cp:lastModifiedBy>
  <cp:revision>1</cp:revision>
  <dcterms:created xsi:type="dcterms:W3CDTF">2026-09-15T18:48:57Z</dcterms:created>
  <dcterms:modified xsi:type="dcterms:W3CDTF">2026-09-15T18:48:57Z</dcterms:modified>
</cp:coreProperties>
</file>